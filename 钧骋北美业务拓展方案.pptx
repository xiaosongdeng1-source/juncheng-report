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701b971d78f42ac" /><Relationship Type="http://schemas.openxmlformats.org/officeDocument/2006/relationships/extended-properties" Target="/docProps/app.xml" Id="R37e090c3df5f4d18" /><Relationship Type="http://schemas.openxmlformats.org/officeDocument/2006/relationships/officeDocument" Target="/ppt/presentation.xml" Id="R2dd8f339026c469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1a870cd582e4922"/>
  </p:sldMasterIdLst>
  <p:notesMasterIdLst>
    <p:notesMasterId xmlns:r="http://schemas.openxmlformats.org/officeDocument/2006/relationships" r:id="R0d95c50c67fc447b"/>
  </p:notesMasterIdLst>
  <p:sldIdLst>
    <p:sldId xmlns:r="http://schemas.openxmlformats.org/officeDocument/2006/relationships" id="256" r:id="R82cefb678a69473b"/>
    <p:sldId xmlns:r="http://schemas.openxmlformats.org/officeDocument/2006/relationships" id="257" r:id="R7fc9885a6c394050"/>
    <p:sldId xmlns:r="http://schemas.openxmlformats.org/officeDocument/2006/relationships" id="258" r:id="Rffb1d7a9b50c48d2"/>
    <p:sldId xmlns:r="http://schemas.openxmlformats.org/officeDocument/2006/relationships" id="259" r:id="R26445e19bcfd43de"/>
    <p:sldId xmlns:r="http://schemas.openxmlformats.org/officeDocument/2006/relationships" id="260" r:id="R5e0ba679457540fc"/>
    <p:sldId xmlns:r="http://schemas.openxmlformats.org/officeDocument/2006/relationships" id="261" r:id="R38448a32b7c44ce6"/>
    <p:sldId xmlns:r="http://schemas.openxmlformats.org/officeDocument/2006/relationships" id="262" r:id="R408e6c5d1bc8491c"/>
    <p:sldId xmlns:r="http://schemas.openxmlformats.org/officeDocument/2006/relationships" id="263" r:id="R1c09ae9d22cf402d"/>
    <p:sldId xmlns:r="http://schemas.openxmlformats.org/officeDocument/2006/relationships" id="264" r:id="R9238fd25f44b4907"/>
    <p:sldId xmlns:r="http://schemas.openxmlformats.org/officeDocument/2006/relationships" id="265" r:id="R5bea01deb26b4a54"/>
    <p:sldId xmlns:r="http://schemas.openxmlformats.org/officeDocument/2006/relationships" id="266" r:id="R2fceb4d9bea948d6"/>
    <p:sldId xmlns:r="http://schemas.openxmlformats.org/officeDocument/2006/relationships" id="267" r:id="R2dd8e8228ab1477c"/>
    <p:sldId xmlns:r="http://schemas.openxmlformats.org/officeDocument/2006/relationships" id="268" r:id="Rec3831fdca1d46eb"/>
    <p:sldId xmlns:r="http://schemas.openxmlformats.org/officeDocument/2006/relationships" id="269" r:id="Ra6d448d66dc44f17"/>
    <p:sldId xmlns:r="http://schemas.openxmlformats.org/officeDocument/2006/relationships" id="270" r:id="R3e71def8b8574063"/>
    <p:sldId xmlns:r="http://schemas.openxmlformats.org/officeDocument/2006/relationships" id="271" r:id="R101c85f24cd847b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fcdb3f6147642e0" /><Relationship Type="http://schemas.openxmlformats.org/officeDocument/2006/relationships/slideMaster" Target="/ppt/slideMasters/slideMaster1.xml" Id="Rd1a870cd582e4922" /><Relationship Type="http://schemas.openxmlformats.org/officeDocument/2006/relationships/notesMaster" Target="/ppt/notesMasters/notesMaster1.xml" Id="R0d95c50c67fc447b" /><Relationship Type="http://schemas.openxmlformats.org/officeDocument/2006/relationships/presProps" Target="/ppt/presProps.xml" Id="Rde5466c1634b4252" /><Relationship Type="http://schemas.openxmlformats.org/officeDocument/2006/relationships/tableStyles" Target="/ppt/tableStyles.xml" Id="R3230df275cca4595" /><Relationship Type="http://schemas.openxmlformats.org/officeDocument/2006/relationships/slide" Target="/ppt/slides/slide1.xml" Id="R82cefb678a69473b" /><Relationship Type="http://schemas.openxmlformats.org/officeDocument/2006/relationships/slide" Target="/ppt/slides/slide2.xml" Id="R7fc9885a6c394050" /><Relationship Type="http://schemas.openxmlformats.org/officeDocument/2006/relationships/slide" Target="/ppt/slides/slide3.xml" Id="Rffb1d7a9b50c48d2" /><Relationship Type="http://schemas.openxmlformats.org/officeDocument/2006/relationships/slide" Target="/ppt/slides/slide4.xml" Id="R26445e19bcfd43de" /><Relationship Type="http://schemas.openxmlformats.org/officeDocument/2006/relationships/slide" Target="/ppt/slides/slide5.xml" Id="R5e0ba679457540fc" /><Relationship Type="http://schemas.openxmlformats.org/officeDocument/2006/relationships/slide" Target="/ppt/slides/slide6.xml" Id="R38448a32b7c44ce6" /><Relationship Type="http://schemas.openxmlformats.org/officeDocument/2006/relationships/slide" Target="/ppt/slides/slide7.xml" Id="R408e6c5d1bc8491c" /><Relationship Type="http://schemas.openxmlformats.org/officeDocument/2006/relationships/slide" Target="/ppt/slides/slide8.xml" Id="R1c09ae9d22cf402d" /><Relationship Type="http://schemas.openxmlformats.org/officeDocument/2006/relationships/slide" Target="/ppt/slides/slide9.xml" Id="R9238fd25f44b4907" /><Relationship Type="http://schemas.openxmlformats.org/officeDocument/2006/relationships/slide" Target="/ppt/slides/slide10.xml" Id="R5bea01deb26b4a54" /><Relationship Type="http://schemas.openxmlformats.org/officeDocument/2006/relationships/slide" Target="/ppt/slides/slide11.xml" Id="R2fceb4d9bea948d6" /><Relationship Type="http://schemas.openxmlformats.org/officeDocument/2006/relationships/slide" Target="/ppt/slides/slide12.xml" Id="R2dd8e8228ab1477c" /><Relationship Type="http://schemas.openxmlformats.org/officeDocument/2006/relationships/slide" Target="/ppt/slides/slide13.xml" Id="Rec3831fdca1d46eb" /><Relationship Type="http://schemas.openxmlformats.org/officeDocument/2006/relationships/slide" Target="/ppt/slides/slide14.xml" Id="Ra6d448d66dc44f17" /><Relationship Type="http://schemas.openxmlformats.org/officeDocument/2006/relationships/slide" Target="/ppt/slides/slide15.xml" Id="R3e71def8b8574063" /><Relationship Type="http://schemas.openxmlformats.org/officeDocument/2006/relationships/slide" Target="/ppt/slides/slide16.xml" Id="R101c85f24cd847b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09b1bd541c446f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7e6b115fdf34116" /><Relationship Type="http://schemas.openxmlformats.org/officeDocument/2006/relationships/notesMaster" Target="/ppt/notesMasters/notesMaster1.xml" Id="R09fd32183493446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c97180497a54bac" /><Relationship Type="http://schemas.openxmlformats.org/officeDocument/2006/relationships/notesMaster" Target="/ppt/notesMasters/notesMaster1.xml" Id="R9026ae5cc7e8438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b9f8c6f48444ee2" /><Relationship Type="http://schemas.openxmlformats.org/officeDocument/2006/relationships/notesMaster" Target="/ppt/notesMasters/notesMaster1.xml" Id="Rd06061e89c82473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4ab7bc4ee7b4f39" /><Relationship Type="http://schemas.openxmlformats.org/officeDocument/2006/relationships/notesMaster" Target="/ppt/notesMasters/notesMaster1.xml" Id="Rc2136abd33574ab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a6fd2e60cae4050" /><Relationship Type="http://schemas.openxmlformats.org/officeDocument/2006/relationships/notesMaster" Target="/ppt/notesMasters/notesMaster1.xml" Id="Rf2e5fd5b771747b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c509396bf564189" /><Relationship Type="http://schemas.openxmlformats.org/officeDocument/2006/relationships/notesMaster" Target="/ppt/notesMasters/notesMaster1.xml" Id="Re071dcdbdc88487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69c6e85e9b7487e" /><Relationship Type="http://schemas.openxmlformats.org/officeDocument/2006/relationships/notesMaster" Target="/ppt/notesMasters/notesMaster1.xml" Id="R48ad2979cb3145b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2648589c8d844d0" /><Relationship Type="http://schemas.openxmlformats.org/officeDocument/2006/relationships/notesMaster" Target="/ppt/notesMasters/notesMaster1.xml" Id="R94d530f73c38488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dbb2d7a91074390" /><Relationship Type="http://schemas.openxmlformats.org/officeDocument/2006/relationships/notesMaster" Target="/ppt/notesMasters/notesMaster1.xml" Id="R90fd7ed911d940f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842573ebabb4cc3" /><Relationship Type="http://schemas.openxmlformats.org/officeDocument/2006/relationships/notesMaster" Target="/ppt/notesMasters/notesMaster1.xml" Id="Rb6e5bce084754e9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587b33ae2f04d04" /><Relationship Type="http://schemas.openxmlformats.org/officeDocument/2006/relationships/notesMaster" Target="/ppt/notesMasters/notesMaster1.xml" Id="Rec7afd49884449a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fd4332dca374405" /><Relationship Type="http://schemas.openxmlformats.org/officeDocument/2006/relationships/notesMaster" Target="/ppt/notesMasters/notesMaster1.xml" Id="Re5b96f040e2a449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af1625e07c748f9" /><Relationship Type="http://schemas.openxmlformats.org/officeDocument/2006/relationships/notesMaster" Target="/ppt/notesMasters/notesMaster1.xml" Id="R8c27d09857f6499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f103edc86304c5a" /><Relationship Type="http://schemas.openxmlformats.org/officeDocument/2006/relationships/notesMaster" Target="/ppt/notesMasters/notesMaster1.xml" Id="Re118a46cf25045c5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04de743bb9454dcc" /><Relationship Type="http://schemas.openxmlformats.org/officeDocument/2006/relationships/notesMaster" Target="/ppt/notesMasters/notesMaster1.xml" Id="Re1ebaa0dbe6b4f34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b469b52e908f4dac" /><Relationship Type="http://schemas.openxmlformats.org/officeDocument/2006/relationships/notesMaster" Target="/ppt/notesMasters/notesMaster1.xml" Id="R80213882d3be4ea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开场建议：今天讨论的重点是如何用现有产品获得新增订单。先看可接触的企业，再确认质量、交付和美国渠道能否支撑试单。公司正式名称按官网使用江苏钧骋车业有限公司，用户口述骏骋需会前确认。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资料口径：官网产品重合度仅说明可开发，不表示采购意向或既有合作。第三方提单数据库仅作发运线索，合同和客户保护须由工厂确认。检索日期：2026-10-12。</a:t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https://cn.carbody.com/about/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基于产品匹配和开发可操作性的建议，并非市场规模或转化率预测。美国普通品牌汽车经销店往往受原厂采购体系影响，Galpin等具备改装和修复业务的集团可作为选择性目标。Topnault已有美国渠道，但库存规模、服务能力与报价权限需老板确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资料口径：官网产品重合度仅说明可开发，不表示采购意向或既有合作。第三方提单数据库仅作发运线索，合同和客户保护须由工厂确认。检索日期：2026-10-12。</a:t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https://cn.carbody.com/</a:t>
            </a:r>
          </a:p>
          <a:p xmlns:a="http://schemas.openxmlformats.org/drawingml/2006/main">
            <a:r>
              <a:t>https://tpautoparts.com/</a:t>
            </a:r>
          </a:p>
          <a:p xmlns:a="http://schemas.openxmlformats.org/drawingml/2006/main">
            <a:r>
              <a:t>https://www.galpinautosports.com/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不要直接把经典车型名称等同为所有年份都兼容。Bronco 1966–77、Defender NAS与其他版本、240Z不同年份均应核对。工厂应提供SKU主数据，标明是否生产、是否现货、是否完成北美实车试装。原厂交叉号仅用于适配识别，不等于原厂授权或配套合同。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资料口径：官网产品重合度仅说明可开发，不表示采购意向或既有合作。第三方提单数据库仅作发运线索，合同和客户保护须由工厂确认。检索日期：2026-10-12。</a:t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https://cn.carbody.com/</a:t>
            </a:r>
          </a:p>
          <a:p xmlns:a="http://schemas.openxmlformats.org/drawingml/2006/main">
            <a:r>
              <a:t>https://tpautoparts.com/</a:t>
            </a:r>
          </a:p>
          <a:p xmlns:a="http://schemas.openxmlformats.org/drawingml/2006/main">
            <a:r>
              <a:t>https://cn.carbody.com/news/exhibitions/2025-sema-aapex-show.html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具体发运线索：ImportInfo公开样本显示2026-09-29抵达、钧骋为发货方、Vicrez.com为收货方、货描auto door/fender/hood；主提单COSU6464333570，分提单SDZHSE26080997。DFW 2026-08-30由ImportKey和Seair公开样本支持。日期均按网站记录的到港/抵达口径，不是成交日期。ECD为关联名单，无已核实的最近双边发运日期。2025官方文章将SEMA/AAPEX合并报道且列一个展位号，不据此推断两个展会各自独立展位。2024文章有预告正文，不能仅凭标题断言实际参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资料口径：官网产品重合度仅说明可开发，不表示采购意向或既有合作。第三方提单数据库仅作发运线索，合同和客户保护须由工厂确认。检索日期：2026-10-12。</a:t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https://cn.carbody.com/about/</a:t>
            </a:r>
          </a:p>
          <a:p xmlns:a="http://schemas.openxmlformats.org/drawingml/2006/main">
            <a:r>
              <a:t>https://www.importinfo.com/jiangsu-juncheng-vehicle-industry-c</a:t>
            </a:r>
          </a:p>
          <a:p xmlns:a="http://schemas.openxmlformats.org/drawingml/2006/main">
            <a:r>
              <a:t>https://importkey.com/i/jiangsu-juncheng-vehicle-industry</a:t>
            </a:r>
          </a:p>
          <a:p xmlns:a="http://schemas.openxmlformats.org/drawingml/2006/main">
            <a:r>
              <a:t>https://www.seair.co.in/us-import/e-jiangsu-juncheng-vehicle-industrial-co-limited.aspx</a:t>
            </a:r>
          </a:p>
          <a:p xmlns:a="http://schemas.openxmlformats.org/drawingml/2006/main">
            <a:r>
              <a:t>https://cn.carbody.com/news/exhibitions/2025-sema-aapex-show.html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并不代表对方愿意采购，也不代表一定容易成交。它表示产品重合度更明确、公开联系入口可用，并能设计具体试装提案。B可能是大型准入、美国制造偏好或模具不完全对应。先拿采购要求，避免凭品牌知名度决定开发顺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资料口径：官网产品重合度仅说明可开发，不表示采购意向或既有合作。第三方提单数据库仅作发运线索，合同和客户保护须由工厂确认。检索日期：2026-10-12。</a:t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TOMS产品页明确现售整桶和未组装车身套件，适合询问补充SKU与供应商准入。WILD HORSES部分assembled body强调US built，不能假设其接受海外整壳；可先询问零件来源政策。Gateway和Velocity是高端项目型工厂，预期采购量不能按全国批发商估算。联系方式见附件，均为公开业务入口，不是已验证采购联系人。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资料口径：官网产品重合度仅说明可开发，不表示采购意向或既有合作。第三方提单数据库仅作发运线索，合同和客户保护须由工厂确认。检索日期：2026-10-12。</a:t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https://tomsoffroad.com/products/toms-offroad-signature-body-tub/</a:t>
            </a:r>
          </a:p>
          <a:p xmlns:a="http://schemas.openxmlformats.org/drawingml/2006/main">
            <a:r>
              <a:t>https://tomsoffroad.com/products/66-77-ford-bronco-body-tub-kit</a:t>
            </a:r>
          </a:p>
          <a:p xmlns:a="http://schemas.openxmlformats.org/drawingml/2006/main">
            <a:r>
              <a:t>https://www.wildhorses4x4.com/early-bronco-body-tub</a:t>
            </a:r>
          </a:p>
          <a:p xmlns:a="http://schemas.openxmlformats.org/drawingml/2006/main">
            <a:r>
              <a:t>https://www.gatewaybronco.com/contact-us/</a:t>
            </a:r>
          </a:p>
          <a:p xmlns:a="http://schemas.openxmlformats.org/drawingml/2006/main">
            <a:r>
              <a:t>https://www.velocityrestorations.com/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Cruiser Corps官网显示配件供应与完整修复服务，建议由配件部门转采购、工坊转技术验收。RestoredFJ40官网联系主体为Scott Gesik’s Collision Specialists，页面可能较旧，联系前确认仍承接FJ40项目。ICON强调定制工程，应先问外购件范围，不推定整壳采购。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资料口径：官网产品重合度仅说明可开发，不表示采购意向或既有合作。第三方提单数据库仅作发运线索，合同和客户保护须由工厂确认。检索日期：2026-10-12。</a:t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https://cruisercorps.com/pages/contact-us</a:t>
            </a:r>
          </a:p>
          <a:p xmlns:a="http://schemas.openxmlformats.org/drawingml/2006/main">
            <a:r>
              <a:t>https://cruisercorps.com/pages/cruiser-corps-services</a:t>
            </a:r>
          </a:p>
          <a:p xmlns:a="http://schemas.openxmlformats.org/drawingml/2006/main">
            <a:r>
              <a:t>https://www.restoredfj40.com/</a:t>
            </a:r>
          </a:p>
          <a:p xmlns:a="http://schemas.openxmlformats.org/drawingml/2006/main">
            <a:r>
              <a:t>https://www.restoredfj40.com/contactus.htm</a:t>
            </a:r>
          </a:p>
          <a:p xmlns:a="http://schemas.openxmlformats.org/drawingml/2006/main">
            <a:r>
              <a:t>https://www.icon4x4.com/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Rovers North兼营原厂与ProLine替换件，不能推定其现有产品来自钧骋。ECD公开产品含Defender/FJ等，ImportInfo关联名单出现其名，但尚未确认双边记录日期和当前合同。本页将其作为关系复核对象，不纳入首批纯新增客户清单。新制造车壳不能简单援引旧车25年进口规则；若发展整车项目，须另行确认NHTSA/EPA及州登记要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资料口径：官网产品重合度仅说明可开发，不表示采购意向或既有合作。第三方提单数据库仅作发运线索，合同和客户保护须由工厂确认。检索日期：2026-10-12。</a:t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https://www.roversnorth.com/parts/plx557_rear_body_assembly_defender_90_without_bulkhead</a:t>
            </a:r>
          </a:p>
          <a:p xmlns:a="http://schemas.openxmlformats.org/drawingml/2006/main">
            <a:r>
              <a:t>https://www.roversnorth.com/contact-us</a:t>
            </a:r>
          </a:p>
          <a:p xmlns:a="http://schemas.openxmlformats.org/drawingml/2006/main">
            <a:r>
              <a:t>https://ecdautodesign.com/</a:t>
            </a:r>
          </a:p>
          <a:p xmlns:a="http://schemas.openxmlformats.org/drawingml/2006/main">
            <a:r>
              <a:t>https://www.importinfo.com/jiangsu-juncheng-vehicle-industry-c</a:t>
            </a:r>
          </a:p>
          <a:p xmlns:a="http://schemas.openxmlformats.org/drawingml/2006/main">
            <a:r>
              <a:t>https://www.nhtsa.gov/importing-vehicle/importation-and-certification-faqs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Z Car Depot官网about页面显示位于Springfield及覆盖70–78车型。不能将所有Z车型通用化。Motorsport Auto官网检索有地址和历史页面，但当前有效产品证据不足，未列首批10家；保留后续核验，不写成已确认高匹配目标。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资料口径：官网产品重合度仅说明可开发，不表示采购意向或既有合作。第三方提单数据库仅作发运线索，合同和客户保护须由工厂确认。检索日期：2026-10-12。</a:t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https://zcardepot.com/pages/about-us</a:t>
            </a:r>
          </a:p>
          <a:p xmlns:a="http://schemas.openxmlformats.org/drawingml/2006/main">
            <a:r>
              <a:t>https://zcardepot.com/collections/all?page=18</a:t>
            </a:r>
          </a:p>
          <a:p xmlns:a="http://schemas.openxmlformats.org/drawingml/2006/main">
            <a:r>
              <a:t>https://zcardepot.com/pages/contact-us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大型分销商是否接受新供应商、采购规模、必要认证仍需询问。Empire官方渠道提供总部联系入口；LKQ使用地区机构和官网联系入口转采购。不要把供货愿望描述为合作事实。Vicrez官方主要为改装及替换件电商，具体钣金发运与其全业务不能等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资料口径：官网产品重合度仅说明可开发，不表示采购意向或既有合作。第三方提单数据库仅作发运线索，合同和客户保护须由工厂确认。检索日期：2026-10-12。</a:t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https://www.empireautoparts.com/</a:t>
            </a:r>
          </a:p>
          <a:p xmlns:a="http://schemas.openxmlformats.org/drawingml/2006/main">
            <a:r>
              <a:t>https://lkqcorp.com/lkq-global_about-us/north-america/</a:t>
            </a:r>
          </a:p>
          <a:p xmlns:a="http://schemas.openxmlformats.org/drawingml/2006/main">
            <a:r>
              <a:t>https://www.importinfo.com/jiangsu-juncheng-vehicle-industry-c</a:t>
            </a:r>
          </a:p>
          <a:p xmlns:a="http://schemas.openxmlformats.org/drawingml/2006/main">
            <a:r>
              <a:t>https://importkey.com/i/jiangsu-juncheng-vehicle-industry</a:t>
            </a:r>
          </a:p>
          <a:p xmlns:a="http://schemas.openxmlformats.org/drawingml/2006/main">
            <a:r>
              <a:t>https://www.vicrez.com/us/about-us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这10家为新增开发候选，关系需先与工厂客户保护名单交叉核对。A是首轮验证，B是条件成熟后推进；分级为研究判断，不是客户意愿事实。大型企业公开客服只用于请求采购转接，不应称为采购负责人。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资料口径：官网产品重合度仅说明可开发，不表示采购意向或既有合作。第三方提单数据库仅作发运线索，合同和客户保护须由工厂确认。检索日期：2026-10-12。</a:t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六阶段CRM，进入下一阶段要有客观产物：联系人、SKU匹配表、正式报价、试装报告、小批订单、复购评审。报价应写币种、Incoterms地点、有效期、MOQ、交期、付款、质保和损伤责任。不要未确认HTS税号与税率就承诺DDP总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资料口径：官网产品重合度仅说明可开发，不表示采购意向或既有合作。第三方提单数据库仅作发运线索，合同和客户保护须由工厂确认。检索日期：2026-10-12。</a:t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NHTSA解释指出独立替换钣金件没有直接适用的整车碰撞测试要求；某些设备如灯具有适用FMVSS。没有统一政府审批的“DOT钣金证书”，但制造商/进口商仍有安全缺陷补救责任。国外车辆/设备制造商应核查49 CFR 551送达代理义务；566等登记是否适用须按产品类别确认，不能所有零件一概要求VIN。CAPA先工厂审核，再具体零件测试，工厂通过不代表每个SKU获证。IATF/PPAP是汽车供应链及客户要求，不是普通出口的统一法律门槛。整车/复刻车壳业务应单独分类审核。关税不提供未经核实的统一税率。知识产权按车型/结构/标识逐项筛查；不凭产品适配推断OEM授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资料口径：官网产品重合度仅说明可开发，不表示采购意向或既有合作。第三方提单数据库仅作发运线索，合同和客户保护须由工厂确认。检索日期：2026-10-12。</a:t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https://www.nhtsa.gov/interpretations/14247ogm</a:t>
            </a:r>
          </a:p>
          <a:p xmlns:a="http://schemas.openxmlformats.org/drawingml/2006/main">
            <a:r>
              <a:t>https://www.nhtsa.gov/importing-vehicle/designation-agents</a:t>
            </a:r>
          </a:p>
          <a:p xmlns:a="http://schemas.openxmlformats.org/drawingml/2006/main">
            <a:r>
              <a:t>https://www.capacertified.org/About/TheCertificationProcess</a:t>
            </a:r>
          </a:p>
          <a:p xmlns:a="http://schemas.openxmlformats.org/drawingml/2006/main">
            <a:r>
              <a:t>https://www.capacertified.org/About/WhatWeCertify</a:t>
            </a:r>
          </a:p>
          <a:p xmlns:a="http://schemas.openxmlformats.org/drawingml/2006/main">
            <a:r>
              <a:t>https://www.iatfglobaloversight.org/oem-requirements/customer-specific-requirements/</a:t>
            </a:r>
          </a:p>
          <a:p xmlns:a="http://schemas.openxmlformats.org/drawingml/2006/main">
            <a:r>
              <a:t>https://www.cbp.gov/trade/programs-administration/entry-summary/section-301-trade-remedies/faqs?language_content_entity=en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公开美国关联账号有Topnault LinkedIn，官网联系网站为TP Auto Parts。中国工厂官网外链Instagram juncheng_carbody、YouTube @Juncheng-Carbody、Facebook指定profile、TikTok @boss.juncheng；链接存在不证明美国运营、活跃度或粉丝规模。Twitter/X topnault是官网外链线索，需实开核验。美国责任保险通常为买家合同或经营风险安排，应由保险经纪人评估，不写成所有零件进口的统一法定证书。英文内容建议每周一个可验证SKU试装案例。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资料口径：官网产品重合度仅说明可开发，不表示采购意向或既有合作。第三方提单数据库仅作发运线索，合同和客户保护须由工厂确认。检索日期：2026-10-12。</a:t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https://tpautoparts.com/pages/contact</a:t>
            </a:r>
          </a:p>
          <a:p xmlns:a="http://schemas.openxmlformats.org/drawingml/2006/main">
            <a:r>
              <a:t>https://www.linkedin.com/company/topnault</a:t>
            </a:r>
          </a:p>
          <a:p xmlns:a="http://schemas.openxmlformats.org/drawingml/2006/main">
            <a:r>
              <a:t>https://cn.carbody.com/</a:t>
            </a:r>
          </a:p>
          <a:p xmlns:a="http://schemas.openxmlformats.org/drawingml/2006/main">
            <a:r>
              <a:t>https://www.junchengauto.com/contact_us/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执行建议而不是销售预测。90天按启动日计，不强制自然季度。必须先取得库存、毛利、资金和人员信息才能订最终预算。附件给出每周跟踪字段和详细行动项。展示有效询盘、试装完成率与试单，而非邮件发送量；不需要为达到数字群发不匹配企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资料口径：官网产品重合度仅说明可开发，不表示采购意向或既有合作。第三方提单数据库仅作发运线索，合同和客户保护须由工厂确认。检索日期：2026-10-12。</a:t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收尾建议：请老板当场圈出两条产品线和首批客户，确认客户保护，再指定一个工厂技术对接人和一个美国交付对接人。不要在老板未确认前把发运线索企业当新增客户重复联系。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资料口径：官网产品重合度仅说明可开发，不表示采购意向或既有合作。第三方提单数据库仅作发运线索，合同和客户保护须由工厂确认。检索日期：2026-10-12。</a:t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4829ef36b194ff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e1277c2171547e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40b03e14b684b5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8556b1a714f4ef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291a945192541b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bdcc5402a67418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7490FB9-CD49-4407-9223-3C94FA96457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032A438C-E2FC-46FB-8AA7-0A990DDBA93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ED1B4910-B52C-461F-8671-0549DCEC30E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62B4DEC-488B-4056-87B5-A0721C85E72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2348E787-5343-4E58-83A4-8CD884AF57F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A756EF9-7A4E-4A69-BB96-69A76F7036A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6510A87-D392-4D33-A27E-AB87B30A7F2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42F65828-8E02-4570-9741-AB63B56AAC3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875874E-D86E-4D84-AF2A-2989B4407A0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66956A7-2060-44C6-B76D-F122E4E152C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e1de3aa850d43fe" /><Relationship Type="http://schemas.openxmlformats.org/officeDocument/2006/relationships/slideLayout" Target="/ppt/slideLayouts/slideLayout1.xml" Id="Rc05fc5c14d634313" /><Relationship Type="http://schemas.openxmlformats.org/officeDocument/2006/relationships/slideLayout" Target="/ppt/slideLayouts/slideLayout2.xml" Id="Rcad54b16e1744d94" /><Relationship Type="http://schemas.openxmlformats.org/officeDocument/2006/relationships/slideLayout" Target="/ppt/slideLayouts/slideLayout3.xml" Id="Rfdd94f6317b049c0" /><Relationship Type="http://schemas.openxmlformats.org/officeDocument/2006/relationships/slideLayout" Target="/ppt/slideLayouts/slideLayout4.xml" Id="Rd999992dcc8f4bb6" /><Relationship Type="http://schemas.openxmlformats.org/officeDocument/2006/relationships/slideLayout" Target="/ppt/slideLayouts/slideLayout5.xml" Id="R6e014073034b42cb" /><Relationship Type="http://schemas.openxmlformats.org/officeDocument/2006/relationships/slideLayout" Target="/ppt/slideLayouts/slideLayout6.xml" Id="R97a1f065ace5466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05fc5c14d634313"/>
    <p:sldLayoutId xmlns:r="http://schemas.openxmlformats.org/officeDocument/2006/relationships" id="2147483650" r:id="Rcad54b16e1744d94"/>
    <p:sldLayoutId xmlns:r="http://schemas.openxmlformats.org/officeDocument/2006/relationships" id="2147483651" r:id="Rfdd94f6317b049c0"/>
    <p:sldLayoutId xmlns:r="http://schemas.openxmlformats.org/officeDocument/2006/relationships" id="2147483652" r:id="Rd999992dcc8f4bb6"/>
    <p:sldLayoutId xmlns:r="http://schemas.openxmlformats.org/officeDocument/2006/relationships" id="2147483653" r:id="R6e014073034b42cb"/>
    <p:sldLayoutId xmlns:r="http://schemas.openxmlformats.org/officeDocument/2006/relationships" id="2147483654" r:id="R97a1f065ace5466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20d39c04c21480d" /><Relationship Type="http://schemas.openxmlformats.org/officeDocument/2006/relationships/notesSlide" Target="/ppt/notesSlides/notesSlide1.xml" Id="Rab8c0052f5e5461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4ad3f3f1fb84db5" /><Relationship Type="http://schemas.openxmlformats.org/officeDocument/2006/relationships/notesSlide" Target="/ppt/notesSlides/notesSlide2.xml" Id="R99d139dd26a147e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b991c830af54f6b" /><Relationship Type="http://schemas.openxmlformats.org/officeDocument/2006/relationships/notesSlide" Target="/ppt/notesSlides/notesSlide3.xml" Id="Ra91938f945ef4f5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bb16f0e9f964c22" /><Relationship Type="http://schemas.openxmlformats.org/officeDocument/2006/relationships/notesSlide" Target="/ppt/notesSlides/notesSlide4.xml" Id="Rf20d8587249c4de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f888c8e2e324b6d" /><Relationship Type="http://schemas.openxmlformats.org/officeDocument/2006/relationships/notesSlide" Target="/ppt/notesSlides/notesSlide5.xml" Id="R01b392627a53407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e720950e499400c" /><Relationship Type="http://schemas.openxmlformats.org/officeDocument/2006/relationships/notesSlide" Target="/ppt/notesSlides/notesSlide6.xml" Id="R3ac3de23861c44a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6d3f52690ef4b2a" /><Relationship Type="http://schemas.openxmlformats.org/officeDocument/2006/relationships/notesSlide" Target="/ppt/notesSlides/notesSlide7.xml" Id="R7479f353235d45f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ff1c037f3b74d45" /><Relationship Type="http://schemas.openxmlformats.org/officeDocument/2006/relationships/notesSlide" Target="/ppt/notesSlides/notesSlide8.xml" Id="R7abaf6391d0d41a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b2a0b54f34549e6" /><Relationship Type="http://schemas.openxmlformats.org/officeDocument/2006/relationships/notesSlide" Target="/ppt/notesSlides/notesSlide9.xml" Id="R291063665884446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b49751654344e65" /><Relationship Type="http://schemas.openxmlformats.org/officeDocument/2006/relationships/notesSlide" Target="/ppt/notesSlides/notesSlide10.xml" Id="R33f94b02cfd14bb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62efa62b0564ad6" /><Relationship Type="http://schemas.openxmlformats.org/officeDocument/2006/relationships/notesSlide" Target="/ppt/notesSlides/notesSlide11.xml" Id="R9131f299bd9e40b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b9f612f51814fab" /><Relationship Type="http://schemas.openxmlformats.org/officeDocument/2006/relationships/notesSlide" Target="/ppt/notesSlides/notesSlide12.xml" Id="R3dd0415218154fa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663ff0fe719491d" /><Relationship Type="http://schemas.openxmlformats.org/officeDocument/2006/relationships/notesSlide" Target="/ppt/notesSlides/notesSlide13.xml" Id="Ra70aada14b00481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2b9c80c914f487b" /><Relationship Type="http://schemas.openxmlformats.org/officeDocument/2006/relationships/notesSlide" Target="/ppt/notesSlides/notesSlide14.xml" Id="R87766eebdaf047ca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52beede2523453d" /><Relationship Type="http://schemas.openxmlformats.org/officeDocument/2006/relationships/notesSlide" Target="/ppt/notesSlides/notesSlide15.xml" Id="Rbf11e1f5afc04dac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d1ee3c4b01a4895" /><Relationship Type="http://schemas.openxmlformats.org/officeDocument/2006/relationships/notesSlide" Target="/ppt/notesSlides/notesSlide16.xml" Id="R0c1b040badfd4a6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3F5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BAF250-AFC1-4E76-97D2-C6F455DD2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863628-C0EC-4F31-8A21-7ABD3B20E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007F8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007F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7F81"/>
                </a:solidFill>
                <a:latin typeface="Microsoft YaHei"/>
                <a:ea typeface="Microsoft YaHei"/>
                <a:cs typeface="Microsoft YaHei"/>
              </a:rPr>
              <a:t>BUSINESS DEVELOPMENT / NORTH AMERICA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B405B6-6CC7-43CE-8EAA-41E0BA9BC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1125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102B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102B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02B40"/>
                </a:solidFill>
                <a:latin typeface="Microsoft YaHei"/>
                <a:ea typeface="Microsoft YaHei"/>
                <a:cs typeface="Microsoft YaHei"/>
              </a:rPr>
              <a:t>江苏钧骋</a:t>
            </a:r>
          </a:p>
          <a:p xmlns:a="http://schemas.openxmlformats.org/drawingml/2006/main">
            <a:pPr>
              <a:defRPr sz="2850" b="1">
                <a:solidFill>
                  <a:srgbClr val="102B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02B40"/>
                </a:solidFill>
                <a:latin typeface="Microsoft YaHei"/>
                <a:ea typeface="Microsoft YaHei"/>
                <a:cs typeface="Microsoft YaHei"/>
              </a:rPr>
              <a:t>北美业务拓展方案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735B7D-0CC0-4165-A151-04D056A67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5792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EE5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569571-B077-476E-B4E8-9C7A661B3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0758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075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07584"/>
                </a:solidFill>
                <a:latin typeface="Microsoft YaHei"/>
                <a:ea typeface="Microsoft YaHei"/>
                <a:cs typeface="Microsoft YaHei"/>
              </a:rPr>
              <a:t>江苏钧骋车业有限公司  •  公开资料核查截至 2026-10-12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AD899E-78E3-4E54-91EA-26C8522FA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34125"/>
            <a:ext cx="685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007F8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007F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07F81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5B6F02-DD84-4966-A6E1-D306761C1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43175"/>
            <a:ext cx="10477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007F8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007F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07F81"/>
                </a:solidFill>
                <a:latin typeface="Microsoft YaHei"/>
                <a:ea typeface="Microsoft YaHei"/>
                <a:cs typeface="Microsoft YaHei"/>
              </a:rPr>
              <a:t>找对企业 · 做成试单 · 建立复购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BF9D64-6906-4F31-B53B-7C72A86BE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29025"/>
            <a:ext cx="107632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2034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034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03444"/>
                </a:solidFill>
                <a:latin typeface="Microsoft YaHei"/>
                <a:ea typeface="Microsoft YaHei"/>
                <a:cs typeface="Microsoft YaHei"/>
              </a:rPr>
              <a:t>重点：美国经典车修复与碰撞维修件渠道</a:t>
            </a:r>
          </a:p>
          <a:p xmlns:a="http://schemas.openxmlformats.org/drawingml/2006/main">
            <a:pPr>
              <a:defRPr sz="2025" b="0">
                <a:solidFill>
                  <a:srgbClr val="2034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03444"/>
                </a:solidFill>
                <a:latin typeface="Microsoft YaHei"/>
                <a:ea typeface="Microsoft YaHei"/>
                <a:cs typeface="Microsoft YaHei"/>
              </a:rPr>
              <a:t>补充：加拿大分销渠道、资质准备与90天执行计划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0ED84F-04D9-4929-BC3D-9079AE72A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86375"/>
            <a:ext cx="11125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FF0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7747D4-A6F0-4539-8228-9D298856F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381625"/>
            <a:ext cx="1076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007F8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007F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07F81"/>
                </a:solidFill>
                <a:latin typeface="Microsoft YaHei"/>
                <a:ea typeface="Microsoft YaHei"/>
                <a:cs typeface="Microsoft YaHei"/>
              </a:rPr>
              <a:t>会议目标：确定首批产品、客户保护规则、样品预算与执行负责人</a:t>
            </a:r>
          </a:p>
        </p:txBody>
      </p:sp>
    </p:spTree>
    <p:extLst>
      <p:ext uri="{BB962C8B-B14F-4D97-AF65-F5344CB8AC3E}">
        <p14:creationId xmlns:p14="http://schemas.microsoft.com/office/powerpoint/2010/main" val="44683822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3F5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DF542B7-D7D6-40E2-A867-9D58D1BF9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E210E8-3402-4151-A080-AABFE21C9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007F8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007F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7F81"/>
                </a:solidFill>
                <a:latin typeface="Microsoft YaHei"/>
                <a:ea typeface="Microsoft YaHei"/>
                <a:cs typeface="Microsoft YaHei"/>
              </a:rPr>
              <a:t>北美业务拓展 / 决策汇报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8C0819-4913-4438-BEE1-489A76972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1125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102B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102B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02B40"/>
                </a:solidFill>
                <a:latin typeface="Microsoft YaHei"/>
                <a:ea typeface="Microsoft YaHei"/>
                <a:cs typeface="Microsoft YaHei"/>
              </a:rPr>
              <a:t>建议先攻经典车渠道，再扩大碰撞件分销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001310-E957-4C40-9A24-980E649AD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5792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EE5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A40396-82CC-4170-BCDC-78628091C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0758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075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07584"/>
                </a:solidFill>
                <a:latin typeface="Microsoft YaHei"/>
                <a:ea typeface="Microsoft YaHei"/>
                <a:cs typeface="Microsoft YaHei"/>
              </a:rPr>
              <a:t>江苏钧骋车业有限公司  •  公开资料核查截至 2026-10-12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28B2D8-1E36-44C1-B4E1-89FF3210F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34125"/>
            <a:ext cx="685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007F8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007F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07F81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4D1E51-6F41-4D85-982F-86D53123F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62125"/>
            <a:ext cx="35242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65E520-7707-441D-B865-8BE7D8581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62125"/>
            <a:ext cx="571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1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C2F409-4C4E-47C2-B630-253A33840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71675"/>
            <a:ext cx="3086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007F8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007F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7F81"/>
                </a:solidFill>
                <a:latin typeface="Microsoft YaHei"/>
                <a:ea typeface="Microsoft YaHei"/>
                <a:cs typeface="Microsoft YaHei"/>
              </a:rPr>
              <a:t>01 / 快速验证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915DD8-FC99-4F65-AA96-86225DDDB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90775"/>
            <a:ext cx="30861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102B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02B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02B40"/>
                </a:solidFill>
                <a:latin typeface="Microsoft YaHei"/>
                <a:ea typeface="Microsoft YaHei"/>
                <a:cs typeface="Microsoft YaHei"/>
              </a:rPr>
              <a:t>第一优先：经典车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0DD047-3904-45DB-8DC2-F1A53C2C7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62300"/>
            <a:ext cx="3086100" cy="1857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2034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2034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3444"/>
                </a:solidFill>
                <a:latin typeface="Microsoft YaHei"/>
                <a:ea typeface="Microsoft YaHei"/>
                <a:cs typeface="Microsoft YaHei"/>
              </a:rPr>
              <a:t>Bronco / FJ40 / Defender</a:t>
            </a:r>
          </a:p>
          <a:p xmlns:a="http://schemas.openxmlformats.org/drawingml/2006/main">
            <a:pPr>
              <a:defRPr sz="1650" b="0">
                <a:solidFill>
                  <a:srgbClr val="2034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3444"/>
                </a:solidFill>
                <a:latin typeface="Microsoft YaHei"/>
                <a:ea typeface="Microsoft YaHei"/>
                <a:cs typeface="Microsoft YaHei"/>
              </a:rPr>
              <a:t>经销商 + 修复工厂</a:t>
            </a:r>
          </a:p>
          <a:p xmlns:a="http://schemas.openxmlformats.org/drawingml/2006/main">
            <a:pPr>
              <a:defRPr sz="1650" b="0">
                <a:solidFill>
                  <a:srgbClr val="2034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3444"/>
                </a:solidFill>
                <a:latin typeface="Microsoft YaHei"/>
                <a:ea typeface="Microsoft YaHei"/>
                <a:cs typeface="Microsoft YaHei"/>
              </a:rPr>
              <a:t>以现有模具和试装报告切入</a:t>
            </a:r>
          </a:p>
          <a:p xmlns:a="http://schemas.openxmlformats.org/drawingml/2006/main">
            <a:pPr>
              <a:defRPr sz="1650" b="0">
                <a:solidFill>
                  <a:srgbClr val="2034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3444"/>
                </a:solidFill>
                <a:latin typeface="Microsoft YaHei"/>
                <a:ea typeface="Microsoft YaHei"/>
                <a:cs typeface="Microsoft YaHei"/>
              </a:rPr>
              <a:t>先卖单件、套件，再谈壳体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95D796-1E96-4C74-99EF-64B339FDE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762125"/>
            <a:ext cx="35242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8E8FA5-6C26-4E75-9CE3-2CE260AD9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762125"/>
            <a:ext cx="571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1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7D28C1-BDD1-4ADA-8DE9-CD24F732A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1971675"/>
            <a:ext cx="3086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007F8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007F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7F81"/>
                </a:solidFill>
                <a:latin typeface="Microsoft YaHei"/>
                <a:ea typeface="Microsoft YaHei"/>
                <a:cs typeface="Microsoft YaHei"/>
              </a:rPr>
              <a:t>02 / 规模增长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F419D0-5173-41DF-9E8B-63BB36C73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2390775"/>
            <a:ext cx="30861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102B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02B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02B40"/>
                </a:solidFill>
                <a:latin typeface="Microsoft YaHei"/>
                <a:ea typeface="Microsoft YaHei"/>
                <a:cs typeface="Microsoft YaHei"/>
              </a:rPr>
              <a:t>第二优先：碰撞件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D7ED09B-E8F0-49B5-905E-5B49A2F4A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3162300"/>
            <a:ext cx="3086100" cy="1857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2034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2034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3444"/>
                </a:solidFill>
                <a:latin typeface="Microsoft YaHei"/>
                <a:ea typeface="Microsoft YaHei"/>
                <a:cs typeface="Microsoft YaHei"/>
              </a:rPr>
              <a:t>门板 / 机盖 / 翼子板</a:t>
            </a:r>
          </a:p>
          <a:p xmlns:a="http://schemas.openxmlformats.org/drawingml/2006/main">
            <a:pPr>
              <a:defRPr sz="1650" b="0">
                <a:solidFill>
                  <a:srgbClr val="2034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3444"/>
                </a:solidFill>
                <a:latin typeface="Microsoft YaHei"/>
                <a:ea typeface="Microsoft YaHei"/>
                <a:cs typeface="Microsoft YaHei"/>
              </a:rPr>
              <a:t>区域批发商 → 大型分销商</a:t>
            </a:r>
          </a:p>
          <a:p xmlns:a="http://schemas.openxmlformats.org/drawingml/2006/main">
            <a:pPr>
              <a:defRPr sz="1650" b="0">
                <a:solidFill>
                  <a:srgbClr val="2034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3444"/>
                </a:solidFill>
                <a:latin typeface="Microsoft YaHei"/>
                <a:ea typeface="Microsoft YaHei"/>
                <a:cs typeface="Microsoft YaHei"/>
              </a:rPr>
              <a:t>补齐料号、包装和退货机制</a:t>
            </a:r>
          </a:p>
          <a:p xmlns:a="http://schemas.openxmlformats.org/drawingml/2006/main">
            <a:pPr>
              <a:defRPr sz="1650" b="0">
                <a:solidFill>
                  <a:srgbClr val="2034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3444"/>
                </a:solidFill>
                <a:latin typeface="Microsoft YaHei"/>
                <a:ea typeface="Microsoft YaHei"/>
                <a:cs typeface="Microsoft YaHei"/>
              </a:rPr>
              <a:t>按SKU评估CAPA价值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1A51059-EFA2-4ECB-B850-B5F373D98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762125"/>
            <a:ext cx="35242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F90D6EC-E18F-4A4C-A960-5AC28DCD2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762125"/>
            <a:ext cx="571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1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A847D2A-EA13-4294-90F7-7BFB0EE31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971675"/>
            <a:ext cx="3086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007F8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007F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7F81"/>
                </a:solidFill>
                <a:latin typeface="Microsoft YaHei"/>
                <a:ea typeface="Microsoft YaHei"/>
                <a:cs typeface="Microsoft YaHei"/>
              </a:rPr>
              <a:t>03 / 交付支撑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F46FCDB-85F5-49C7-BD05-AD470C3ED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390775"/>
            <a:ext cx="30861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102B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02B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02B40"/>
                </a:solidFill>
                <a:latin typeface="Microsoft YaHei"/>
                <a:ea typeface="Microsoft YaHei"/>
                <a:cs typeface="Microsoft YaHei"/>
              </a:rPr>
              <a:t>渠道基础：美国落地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EEE0F36-3078-4F60-9E17-286E232F3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162300"/>
            <a:ext cx="3086100" cy="1857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2034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2034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3444"/>
                </a:solidFill>
                <a:latin typeface="Microsoft YaHei"/>
                <a:ea typeface="Microsoft YaHei"/>
                <a:cs typeface="Microsoft YaHei"/>
              </a:rPr>
              <a:t>利用Topnault加州渠道</a:t>
            </a:r>
          </a:p>
          <a:p xmlns:a="http://schemas.openxmlformats.org/drawingml/2006/main">
            <a:pPr>
              <a:defRPr sz="1650" b="0">
                <a:solidFill>
                  <a:srgbClr val="2034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3444"/>
                </a:solidFill>
                <a:latin typeface="Microsoft YaHei"/>
                <a:ea typeface="Microsoft YaHei"/>
                <a:cs typeface="Microsoft YaHei"/>
              </a:rPr>
              <a:t>核实库存、试装与售后能力</a:t>
            </a:r>
          </a:p>
          <a:p xmlns:a="http://schemas.openxmlformats.org/drawingml/2006/main">
            <a:pPr>
              <a:defRPr sz="1650" b="0">
                <a:solidFill>
                  <a:srgbClr val="2034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3444"/>
                </a:solidFill>
                <a:latin typeface="Microsoft YaHei"/>
                <a:ea typeface="Microsoft YaHei"/>
                <a:cs typeface="Microsoft YaHei"/>
              </a:rPr>
              <a:t>加州现场拜访，其他州远程</a:t>
            </a:r>
          </a:p>
          <a:p xmlns:a="http://schemas.openxmlformats.org/drawingml/2006/main">
            <a:pPr>
              <a:defRPr sz="1650" b="0">
                <a:solidFill>
                  <a:srgbClr val="2034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3444"/>
                </a:solidFill>
                <a:latin typeface="Microsoft YaHei"/>
                <a:ea typeface="Microsoft YaHei"/>
                <a:cs typeface="Microsoft YaHei"/>
              </a:rPr>
              <a:t>加拿大作为补充开发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DD95AA0-BD1D-4678-B9A8-4EC167FEF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38800"/>
            <a:ext cx="11125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FF0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DEB67F4-1482-49A6-B21A-2E1716C4A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734050"/>
            <a:ext cx="1076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007F8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007F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07F81"/>
                </a:solidFill>
                <a:latin typeface="Microsoft YaHei"/>
                <a:ea typeface="Microsoft YaHei"/>
                <a:cs typeface="Microsoft YaHei"/>
              </a:rPr>
              <a:t>暂不把普通品牌经销店作为主攻；优先有经典修复、改装或独立配件采购业务的企业</a:t>
            </a:r>
          </a:p>
        </p:txBody>
      </p:sp>
    </p:spTree>
    <p:extLst>
      <p:ext uri="{BB962C8B-B14F-4D97-AF65-F5344CB8AC3E}">
        <p14:creationId xmlns:p14="http://schemas.microsoft.com/office/powerpoint/2010/main" val="165048848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3F5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3E6AC3-69EC-4FD8-B7C5-AE84FA2BB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C40162-CD4C-46E4-BE0A-7230E76D7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007F8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007F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7F81"/>
                </a:solidFill>
                <a:latin typeface="Microsoft YaHei"/>
                <a:ea typeface="Microsoft YaHei"/>
                <a:cs typeface="Microsoft YaHei"/>
              </a:rPr>
              <a:t>北美业务拓展 / 决策汇报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76B058-862D-4CB7-AA5F-62E6A0B35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1125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102B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102B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02B40"/>
                </a:solidFill>
                <a:latin typeface="Microsoft YaHei"/>
                <a:ea typeface="Microsoft YaHei"/>
                <a:cs typeface="Microsoft YaHei"/>
              </a:rPr>
              <a:t>先整理可卖产品，再向客户提交匹配清单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7407B8-32BD-492C-9354-28D30AF7C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5792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EE5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F342E3-DB13-4468-A60D-6A72B07AF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0758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075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07584"/>
                </a:solidFill>
                <a:latin typeface="Microsoft YaHei"/>
                <a:ea typeface="Microsoft YaHei"/>
                <a:cs typeface="Microsoft YaHei"/>
              </a:rPr>
              <a:t>江苏钧骋车业有限公司  •  公开资料核查截至 2026-10-12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4C00E6-F175-437D-A7AC-3EE345369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34125"/>
            <a:ext cx="685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007F8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007F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07F81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745904-A514-4818-AD48-153F9C8976AE}"/>
              </a:ext>
            </a:extLst>
          </p:cNvPr>
          <p:cNvGraphicFramePr/>
          <p:nvPr/>
        </p:nvGraphicFramePr>
        <p:xfrm>
          <a:off xmlns:a="http://schemas.openxmlformats.org/drawingml/2006/main" x="533400" y="1809750"/>
          <a:ext xmlns:a="http://schemas.openxmlformats.org/drawingml/2006/main" cx="11125200" cy="3143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90750"/>
                <a:gridCol w="4429125"/>
                <a:gridCol w="4505325"/>
              </a:tblGrid>
              <a:tr h="785813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业务线</a:t>
                      </a:r>
                    </a:p>
                  </a:txBody>
                  <a:tcPr marL="91440" marR="91440" marT="45720" marB="45720">
                    <a:solidFill>
                      <a:srgbClr val="102B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公开产品方向</a:t>
                      </a:r>
                    </a:p>
                  </a:txBody>
                  <a:tcPr marL="91440" marR="91440" marT="45720" marB="45720">
                    <a:solidFill>
                      <a:srgbClr val="102B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首轮开发资料</a:t>
                      </a:r>
                    </a:p>
                  </a:txBody>
                  <a:tcPr marL="91440" marR="91440" marT="45720" marB="45720">
                    <a:solidFill>
                      <a:srgbClr val="102B40"/>
                    </a:solidFill>
                  </a:tcPr>
                </a:tc>
              </a:tr>
              <a:tr h="785813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34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经典车车身件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34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Bronco、FJ40/FJ60、Defender 90/110、240Z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34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精确年份 / 版本 / 左右舵 / 单件或焊接总成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85813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34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现代碰撞维修件</a:t>
                      </a:r>
                    </a:p>
                  </a:txBody>
                  <a:tcPr marL="91440" marR="91440" marT="45720" marB="45720">
                    <a:solidFill>
                      <a:srgbClr val="E8EF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34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车门、机盖、翼子板等；官网含RAM等车型</a:t>
                      </a:r>
                    </a:p>
                  </a:txBody>
                  <a:tcPr marL="91440" marR="91440" marT="45720" marB="45720">
                    <a:solidFill>
                      <a:srgbClr val="E8EF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34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OEM交叉号 / 材料 / 表面处理 / 包装尺寸</a:t>
                      </a:r>
                    </a:p>
                  </a:txBody>
                  <a:tcPr marL="91440" marR="91440" marT="45720" marB="45720">
                    <a:solidFill>
                      <a:srgbClr val="E8EFF2"/>
                    </a:solidFill>
                  </a:tcPr>
                </a:tc>
              </a:tr>
              <a:tr h="785813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34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定制与改装制造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34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车身定制、模具及试制能力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34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图纸权限 / 开发费 / 试制周期 / 验收标准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E1EA54-6FA6-4A58-89C7-78BFA1CE0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62575"/>
            <a:ext cx="11125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FF0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2AD06D-22E3-4324-ADE8-24F762CBD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457825"/>
            <a:ext cx="1076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007F8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007F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07F81"/>
                </a:solidFill>
                <a:latin typeface="Microsoft YaHei"/>
                <a:ea typeface="Microsoft YaHei"/>
                <a:cs typeface="Microsoft YaHei"/>
              </a:rPr>
              <a:t>AE86等有展示记录，但首批推广必须以工厂现货、模具状态和实际试装证据为准</a:t>
            </a:r>
          </a:p>
        </p:txBody>
      </p:sp>
    </p:spTree>
    <p:extLst>
      <p:ext uri="{BB962C8B-B14F-4D97-AF65-F5344CB8AC3E}">
        <p14:creationId xmlns:p14="http://schemas.microsoft.com/office/powerpoint/2010/main" val="25133898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3F5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C5133F-6A03-4098-A2C1-6ABD88996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50D2E1-861F-4321-9B77-97165495A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007F8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007F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7F81"/>
                </a:solidFill>
                <a:latin typeface="Microsoft YaHei"/>
                <a:ea typeface="Microsoft YaHei"/>
                <a:cs typeface="Microsoft YaHei"/>
              </a:rPr>
              <a:t>北美业务拓展 / 决策汇报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103ABD-4B7F-4387-B1A7-C564C92E3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1125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102B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102B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02B40"/>
                </a:solidFill>
                <a:latin typeface="Microsoft YaHei"/>
                <a:ea typeface="Microsoft YaHei"/>
                <a:cs typeface="Microsoft YaHei"/>
              </a:rPr>
              <a:t>已有美国基础，但合作状态必须逐家确认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9CA641-7CE5-4806-A463-F23560DE2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5792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EE5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E03B14-E288-4B94-B586-F1DB70D10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0758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075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07584"/>
                </a:solidFill>
                <a:latin typeface="Microsoft YaHei"/>
                <a:ea typeface="Microsoft YaHei"/>
                <a:cs typeface="Microsoft YaHei"/>
              </a:rPr>
              <a:t>江苏钧骋车业有限公司  •  公开资料核查截至 2026-10-12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C32983-FF43-4A36-8CD2-16344A1E2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34125"/>
            <a:ext cx="685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007F8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007F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07F81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AC4441-0B9E-4ADC-AA60-09DF4C02A95F}"/>
              </a:ext>
            </a:extLst>
          </p:cNvPr>
          <p:cNvGraphicFramePr/>
          <p:nvPr/>
        </p:nvGraphicFramePr>
        <p:xfrm>
          <a:off xmlns:a="http://schemas.openxmlformats.org/drawingml/2006/main" x="533400" y="1752600"/>
          <a:ext xmlns:a="http://schemas.openxmlformats.org/drawingml/2006/main" cx="11125200" cy="33718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86000"/>
                <a:gridCol w="4667250"/>
                <a:gridCol w="4171950"/>
              </a:tblGrid>
              <a:tr h="67437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证据类别</a:t>
                      </a:r>
                    </a:p>
                  </a:txBody>
                  <a:tcPr marL="91440" marR="91440" marT="45720" marB="45720">
                    <a:solidFill>
                      <a:srgbClr val="102B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可核实企业 / 活动</a:t>
                      </a:r>
                    </a:p>
                  </a:txBody>
                  <a:tcPr marL="91440" marR="91440" marT="45720" marB="45720">
                    <a:solidFill>
                      <a:srgbClr val="102B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可得结论</a:t>
                      </a:r>
                    </a:p>
                  </a:txBody>
                  <a:tcPr marL="91440" marR="91440" marT="45720" marB="45720">
                    <a:solidFill>
                      <a:srgbClr val="102B40"/>
                    </a:solidFill>
                  </a:tcPr>
                </a:tc>
              </a:tr>
              <a:tr h="67437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034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公司官方披露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034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Topnault / TP Auto Parts，加州渠道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034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官方美国业务基础；优先核实协同与客户保护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7437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034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具体发运线索</a:t>
                      </a:r>
                    </a:p>
                  </a:txBody>
                  <a:tcPr marL="91440" marR="91440" marT="45720" marB="45720">
                    <a:solidFill>
                      <a:srgbClr val="E8EF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034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Vicrez（2026-09-29）；DFW（2026-08-30）</a:t>
                      </a:r>
                    </a:p>
                  </a:txBody>
                  <a:tcPr marL="91440" marR="91440" marT="45720" marB="45720">
                    <a:solidFill>
                      <a:srgbClr val="E8EF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034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提单聚合库显示收货 / 发运关联；不等于现行合同</a:t>
                      </a:r>
                    </a:p>
                  </a:txBody>
                  <a:tcPr marL="91440" marR="91440" marT="45720" marB="45720">
                    <a:solidFill>
                      <a:srgbClr val="E8EFF2"/>
                    </a:solidFill>
                  </a:tcPr>
                </a:tc>
              </a:tr>
              <a:tr h="67437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034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历史数据库关联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034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ECD Automotive Design等关联名单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034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可供老板核对；不能直接写“当前合作客户”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7437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034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企业展会报道</a:t>
                      </a:r>
                    </a:p>
                  </a:txBody>
                  <a:tcPr marL="91440" marR="91440" marT="45720" marB="45720">
                    <a:solidFill>
                      <a:srgbClr val="E8EF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034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2025 SEMA/AAPEX；报道列C76036</a:t>
                      </a:r>
                    </a:p>
                  </a:txBody>
                  <a:tcPr marL="91440" marR="91440" marT="45720" marB="45720">
                    <a:solidFill>
                      <a:srgbClr val="E8EF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034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有官方报道；2026是否参展未确认</a:t>
                      </a:r>
                    </a:p>
                  </a:txBody>
                  <a:tcPr marL="91440" marR="91440" marT="45720" marB="45720">
                    <a:solidFill>
                      <a:srgbClr val="E8EFF2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9976EF-22A8-4768-9FA8-CF118E23F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38800"/>
            <a:ext cx="11125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FF0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9FB7BD-C4A5-4790-B222-10AF69656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734050"/>
            <a:ext cx="1076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007F8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007F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07F81"/>
                </a:solidFill>
                <a:latin typeface="Microsoft YaHei"/>
                <a:ea typeface="Microsoft YaHei"/>
                <a:cs typeface="Microsoft YaHei"/>
              </a:rPr>
              <a:t>先让老板标注：现有客户 / 停止合作 / 中间商 / 保护客户 / 可重新开发</a:t>
            </a:r>
          </a:p>
        </p:txBody>
      </p:sp>
    </p:spTree>
    <p:extLst>
      <p:ext uri="{BB962C8B-B14F-4D97-AF65-F5344CB8AC3E}">
        <p14:creationId xmlns:p14="http://schemas.microsoft.com/office/powerpoint/2010/main" val="35254040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3F5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00A2C42-5B5F-446C-83A7-94A211E18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D9498C-990C-4C2F-A1FA-BC642F1CC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007F8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007F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7F81"/>
                </a:solidFill>
                <a:latin typeface="Microsoft YaHei"/>
                <a:ea typeface="Microsoft YaHei"/>
                <a:cs typeface="Microsoft YaHei"/>
              </a:rPr>
              <a:t>北美业务拓展 / 决策汇报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A631E2-1776-4D37-BB13-3614FEB84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1125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102B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102B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02B40"/>
                </a:solidFill>
                <a:latin typeface="Microsoft YaHei"/>
                <a:ea typeface="Microsoft YaHei"/>
                <a:cs typeface="Microsoft YaHei"/>
              </a:rPr>
              <a:t>客户筛选只看四件事：产品、角色、门槛、试单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866163-F8F1-4808-9D47-CADAB3104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5792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EE5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43F2D3-6D29-4BE5-9230-7DFF34B3F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0758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075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07584"/>
                </a:solidFill>
                <a:latin typeface="Microsoft YaHei"/>
                <a:ea typeface="Microsoft YaHei"/>
                <a:cs typeface="Microsoft YaHei"/>
              </a:rPr>
              <a:t>江苏钧骋车业有限公司  •  公开资料核查截至 2026-10-12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5B8C45-BB62-4CFA-8863-B1E37FF4D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34125"/>
            <a:ext cx="685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007F8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007F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07F81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0C9CDB-A68A-4663-BD89-2CE5DC7A4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52625"/>
            <a:ext cx="2667000" cy="2771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23ACA0-FB27-4912-9096-E8D0D68E5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33600"/>
            <a:ext cx="228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007F8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007F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007F81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CED76C-EF6E-4BD9-BA06-F3D15B366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52750"/>
            <a:ext cx="228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102B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02B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02B40"/>
                </a:solidFill>
                <a:latin typeface="Microsoft YaHei"/>
                <a:ea typeface="Microsoft YaHei"/>
                <a:cs typeface="Microsoft YaHei"/>
              </a:rPr>
              <a:t>产品重合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A82D8B-491C-4D54-8501-B3A58B83C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81400"/>
            <a:ext cx="22860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2034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2034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03444"/>
                </a:solidFill>
                <a:latin typeface="Microsoft YaHei"/>
                <a:ea typeface="Microsoft YaHei"/>
                <a:cs typeface="Microsoft YaHei"/>
              </a:rPr>
              <a:t>客户当前卖什么？</a:t>
            </a:r>
          </a:p>
          <a:p xmlns:a="http://schemas.openxmlformats.org/drawingml/2006/main">
            <a:pPr>
              <a:defRPr sz="1575" b="0">
                <a:solidFill>
                  <a:srgbClr val="2034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03444"/>
                </a:solidFill>
                <a:latin typeface="Microsoft YaHei"/>
                <a:ea typeface="Microsoft YaHei"/>
                <a:cs typeface="Microsoft YaHei"/>
              </a:rPr>
              <a:t>与现有SKU对应到年份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867518-768E-4F05-B744-0A714A229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1952625"/>
            <a:ext cx="2667000" cy="2771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6723D8-D514-4531-A830-2CFD426CD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133600"/>
            <a:ext cx="228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007F8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007F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007F81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A4186E-B3FC-43E9-8881-600339F82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952750"/>
            <a:ext cx="228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102B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02B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02B40"/>
                </a:solidFill>
                <a:latin typeface="Microsoft YaHei"/>
                <a:ea typeface="Microsoft YaHei"/>
                <a:cs typeface="Microsoft YaHei"/>
              </a:rPr>
              <a:t>采购角色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E9A8B5-3F8D-4C34-BC0F-A7D578FF2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581400"/>
            <a:ext cx="22860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2034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2034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03444"/>
                </a:solidFill>
                <a:latin typeface="Microsoft YaHei"/>
                <a:ea typeface="Microsoft YaHei"/>
                <a:cs typeface="Microsoft YaHei"/>
              </a:rPr>
              <a:t>分销商、修复厂还是制造商？</a:t>
            </a:r>
          </a:p>
          <a:p xmlns:a="http://schemas.openxmlformats.org/drawingml/2006/main">
            <a:pPr>
              <a:defRPr sz="1575" b="0">
                <a:solidFill>
                  <a:srgbClr val="2034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03444"/>
                </a:solidFill>
                <a:latin typeface="Microsoft YaHei"/>
                <a:ea typeface="Microsoft YaHei"/>
                <a:cs typeface="Microsoft YaHei"/>
              </a:rPr>
              <a:t>是否能引荐采购负责人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654FFC0-02C7-4D00-ABAB-160F98B3C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952625"/>
            <a:ext cx="2667000" cy="2771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A9D332-14B4-4A1C-9214-872DA10AF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133600"/>
            <a:ext cx="228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007F8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007F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007F81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3B5B235-C41B-4378-BCCA-05056DD30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952750"/>
            <a:ext cx="228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102B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02B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02B40"/>
                </a:solidFill>
                <a:latin typeface="Microsoft YaHei"/>
                <a:ea typeface="Microsoft YaHei"/>
                <a:cs typeface="Microsoft YaHei"/>
              </a:rPr>
              <a:t>进入门槛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1411BE2-58E4-400B-9DB2-3E9689147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581400"/>
            <a:ext cx="22860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2034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2034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03444"/>
                </a:solidFill>
                <a:latin typeface="Microsoft YaHei"/>
                <a:ea typeface="Microsoft YaHei"/>
                <a:cs typeface="Microsoft YaHei"/>
              </a:rPr>
              <a:t>质量、认证、本土来源偏好</a:t>
            </a:r>
          </a:p>
          <a:p xmlns:a="http://schemas.openxmlformats.org/drawingml/2006/main">
            <a:pPr>
              <a:defRPr sz="1575" b="0">
                <a:solidFill>
                  <a:srgbClr val="2034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03444"/>
                </a:solidFill>
                <a:latin typeface="Microsoft YaHei"/>
                <a:ea typeface="Microsoft YaHei"/>
                <a:cs typeface="Microsoft YaHei"/>
              </a:rPr>
              <a:t>现有供应商与售后要求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4638995-120C-4097-A716-6CD394023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952625"/>
            <a:ext cx="2667000" cy="2771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44E4B45-DB14-4636-9505-BFAAB1F62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133600"/>
            <a:ext cx="228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007F8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007F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007F81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7312CBB-675C-45EF-A7FE-C73BA4A35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952750"/>
            <a:ext cx="228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102B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02B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02B40"/>
                </a:solidFill>
                <a:latin typeface="Microsoft YaHei"/>
                <a:ea typeface="Microsoft YaHei"/>
                <a:cs typeface="Microsoft YaHei"/>
              </a:rPr>
              <a:t>试单路径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7F5B0B4-A189-4811-8089-B1D16079F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581400"/>
            <a:ext cx="22860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2034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2034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03444"/>
                </a:solidFill>
                <a:latin typeface="Microsoft YaHei"/>
                <a:ea typeface="Microsoft YaHei"/>
                <a:cs typeface="Microsoft YaHei"/>
              </a:rPr>
              <a:t>先选一个车型 / 一组SKU</a:t>
            </a:r>
          </a:p>
          <a:p xmlns:a="http://schemas.openxmlformats.org/drawingml/2006/main">
            <a:pPr>
              <a:defRPr sz="1575" b="0">
                <a:solidFill>
                  <a:srgbClr val="2034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03444"/>
                </a:solidFill>
                <a:latin typeface="Microsoft YaHei"/>
                <a:ea typeface="Microsoft YaHei"/>
                <a:cs typeface="Microsoft YaHei"/>
              </a:rPr>
              <a:t>试装签字 → 小批量订单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54BA2EF-CB05-4A2D-A085-E7E203D4E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38800"/>
            <a:ext cx="11125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FF0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49EAA40-6CB7-47E4-9561-B08FF6E9C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734050"/>
            <a:ext cx="1076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007F8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007F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07F81"/>
                </a:solidFill>
                <a:latin typeface="Microsoft YaHei"/>
                <a:ea typeface="Microsoft YaHei"/>
                <a:cs typeface="Microsoft YaHei"/>
              </a:rPr>
              <a:t>A：首轮验证；B：条件成熟后推进。优先级是研究判断，所有采购意愿尚未验证</a:t>
            </a:r>
          </a:p>
        </p:txBody>
      </p:sp>
    </p:spTree>
    <p:extLst>
      <p:ext uri="{BB962C8B-B14F-4D97-AF65-F5344CB8AC3E}">
        <p14:creationId xmlns:p14="http://schemas.microsoft.com/office/powerpoint/2010/main" val="117008018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3F5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98933E4-D2EC-4C81-80A5-97C0B5D2D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E29C66-9A8B-45B8-91F2-0643AA61A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007F8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007F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7F81"/>
                </a:solidFill>
                <a:latin typeface="Microsoft YaHei"/>
                <a:ea typeface="Microsoft YaHei"/>
                <a:cs typeface="Microsoft YaHei"/>
              </a:rPr>
              <a:t>北美业务拓展 / 决策汇报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DA0374-0C79-4FBA-880A-65FD2F314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1125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102B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102B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02B40"/>
                </a:solidFill>
                <a:latin typeface="Microsoft YaHei"/>
                <a:ea typeface="Microsoft YaHei"/>
                <a:cs typeface="Microsoft YaHei"/>
              </a:rPr>
              <a:t>Bronco：从经销商SKU与修复厂项目两端切入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FBE6A7-14C0-45BB-8E3C-753BA38F6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5792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EE5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A26DCE-F189-4CB6-B82F-274708310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0758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075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07584"/>
                </a:solidFill>
                <a:latin typeface="Microsoft YaHei"/>
                <a:ea typeface="Microsoft YaHei"/>
                <a:cs typeface="Microsoft YaHei"/>
              </a:rPr>
              <a:t>江苏钧骋车业有限公司  •  公开资料核查截至 2026-10-12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15964F-D8C5-4CD1-8841-6463CA389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34125"/>
            <a:ext cx="685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007F8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007F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07F81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147EE6-2412-4E13-B620-E7431EEE2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52600"/>
            <a:ext cx="5400675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AE78A6-B388-4400-BF1F-E774A6C7D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52600"/>
            <a:ext cx="571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1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B47925-3CF1-42E0-93A2-FA7F71DF7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62150"/>
            <a:ext cx="49625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007F8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007F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7F81"/>
                </a:solidFill>
                <a:latin typeface="Microsoft YaHei"/>
                <a:ea typeface="Microsoft YaHei"/>
                <a:cs typeface="Microsoft YaHei"/>
              </a:rPr>
              <a:t>A / 产品重合明确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CEA60E-96E5-4FBD-9D0E-84B49C54C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81250"/>
            <a:ext cx="49625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102B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02B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02B40"/>
                </a:solidFill>
                <a:latin typeface="Microsoft YaHei"/>
                <a:ea typeface="Microsoft YaHei"/>
                <a:cs typeface="Microsoft YaHei"/>
              </a:rPr>
              <a:t>TOMS OFFROAD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D0C59C-45E5-4E67-8888-F0C1C9408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52775"/>
            <a:ext cx="4962525" cy="1857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2034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2034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3444"/>
                </a:solidFill>
                <a:latin typeface="Microsoft YaHei"/>
                <a:ea typeface="Microsoft YaHei"/>
                <a:cs typeface="Microsoft YaHei"/>
              </a:rPr>
              <a:t>俄勒冈州 · 经典Bronco配件渠道</a:t>
            </a:r>
          </a:p>
          <a:p xmlns:a="http://schemas.openxmlformats.org/drawingml/2006/main">
            <a:pPr>
              <a:defRPr sz="1650" b="0">
                <a:solidFill>
                  <a:srgbClr val="2034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3444"/>
                </a:solidFill>
                <a:latin typeface="Microsoft YaHei"/>
                <a:ea typeface="Microsoft YaHei"/>
                <a:cs typeface="Microsoft YaHei"/>
              </a:rPr>
              <a:t>公开销售1966–77车身桶及套件</a:t>
            </a:r>
          </a:p>
          <a:p xmlns:a="http://schemas.openxmlformats.org/drawingml/2006/main">
            <a:pPr>
              <a:defRPr sz="1650" b="0">
                <a:solidFill>
                  <a:srgbClr val="2034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3444"/>
                </a:solidFill>
                <a:latin typeface="Microsoft YaHei"/>
                <a:ea typeface="Microsoft YaHei"/>
                <a:cs typeface="Microsoft YaHei"/>
              </a:rPr>
              <a:t>切入：门、机盖、翼子板、未焊接套件</a:t>
            </a:r>
          </a:p>
          <a:p xmlns:a="http://schemas.openxmlformats.org/drawingml/2006/main">
            <a:pPr>
              <a:defRPr sz="1650" b="0">
                <a:solidFill>
                  <a:srgbClr val="2034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3444"/>
                </a:solidFill>
                <a:latin typeface="Microsoft YaHei"/>
                <a:ea typeface="Microsoft YaHei"/>
                <a:cs typeface="Microsoft YaHei"/>
              </a:rPr>
              <a:t>先问：缺货SKU、供应商审核与试装要求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82EC94-F4B5-4711-B14F-01C4E84C1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752600"/>
            <a:ext cx="5400675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12D8CC-BC17-409D-A753-AC3CB6EAC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752600"/>
            <a:ext cx="571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1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FBB0FB-439E-4D7C-BF7C-C71FDE142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1962150"/>
            <a:ext cx="49625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007F8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007F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7F81"/>
                </a:solidFill>
                <a:latin typeface="Microsoft YaHei"/>
                <a:ea typeface="Microsoft YaHei"/>
                <a:cs typeface="Microsoft YaHei"/>
              </a:rPr>
              <a:t>A/B / 先核实供应策略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BC4D10-EAD2-4AB0-9030-D41668DE3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2381250"/>
            <a:ext cx="49625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102B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02B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02B40"/>
                </a:solidFill>
                <a:latin typeface="Microsoft YaHei"/>
                <a:ea typeface="Microsoft YaHei"/>
                <a:cs typeface="Microsoft YaHei"/>
              </a:rPr>
              <a:t>WILD HORSES / 修复厂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FE13DF-3765-4326-8BA0-3140833D3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3152775"/>
            <a:ext cx="4962525" cy="1857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2034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2034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3444"/>
                </a:solidFill>
                <a:latin typeface="Microsoft YaHei"/>
                <a:ea typeface="Microsoft YaHei"/>
                <a:cs typeface="Microsoft YaHei"/>
              </a:rPr>
              <a:t>WILD HORSES：加州Bronco专业渠道</a:t>
            </a:r>
          </a:p>
          <a:p xmlns:a="http://schemas.openxmlformats.org/drawingml/2006/main">
            <a:pPr>
              <a:defRPr sz="1650" b="0">
                <a:solidFill>
                  <a:srgbClr val="2034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3444"/>
                </a:solidFill>
                <a:latin typeface="Microsoft YaHei"/>
                <a:ea typeface="Microsoft YaHei"/>
                <a:cs typeface="Microsoft YaHei"/>
              </a:rPr>
              <a:t>部分车身标注美国制造，需尊重来源定位</a:t>
            </a:r>
          </a:p>
          <a:p xmlns:a="http://schemas.openxmlformats.org/drawingml/2006/main">
            <a:pPr>
              <a:defRPr sz="1650" b="0">
                <a:solidFill>
                  <a:srgbClr val="2034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3444"/>
                </a:solidFill>
                <a:latin typeface="Microsoft YaHei"/>
                <a:ea typeface="Microsoft YaHei"/>
                <a:cs typeface="Microsoft YaHei"/>
              </a:rPr>
              <a:t>Gateway / Velocity：定制修复项目</a:t>
            </a:r>
          </a:p>
          <a:p xmlns:a="http://schemas.openxmlformats.org/drawingml/2006/main">
            <a:pPr>
              <a:defRPr sz="1650" b="0">
                <a:solidFill>
                  <a:srgbClr val="2034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3444"/>
                </a:solidFill>
                <a:latin typeface="Microsoft YaHei"/>
                <a:ea typeface="Microsoft YaHei"/>
                <a:cs typeface="Microsoft YaHei"/>
              </a:rPr>
              <a:t>切入：小批量单件、项目试装及备件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9A32FA3-80A3-40C3-B93A-69C98E98C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38800"/>
            <a:ext cx="11125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FF0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2618732-4188-4301-9656-A5BE6338C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734050"/>
            <a:ext cx="1076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007F8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007F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07F81"/>
                </a:solidFill>
                <a:latin typeface="Microsoft YaHei"/>
                <a:ea typeface="Microsoft YaHei"/>
                <a:cs typeface="Microsoft YaHei"/>
              </a:rPr>
              <a:t>不要以低价完整车壳作为唯一卖点；用装配工时、孔位与运输损伤率证明价值</a:t>
            </a:r>
          </a:p>
        </p:txBody>
      </p:sp>
    </p:spTree>
    <p:extLst>
      <p:ext uri="{BB962C8B-B14F-4D97-AF65-F5344CB8AC3E}">
        <p14:creationId xmlns:p14="http://schemas.microsoft.com/office/powerpoint/2010/main" val="38693723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3F5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1223D66-1EA4-4090-8F56-D80F41DA0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6BAB5F-D742-4D87-9151-C8C804706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007F8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007F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7F81"/>
                </a:solidFill>
                <a:latin typeface="Microsoft YaHei"/>
                <a:ea typeface="Microsoft YaHei"/>
                <a:cs typeface="Microsoft YaHei"/>
              </a:rPr>
              <a:t>北美业务拓展 / 决策汇报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B5B33F-7EF0-4B1F-A410-B093BD472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1125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102B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102B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02B40"/>
                </a:solidFill>
                <a:latin typeface="Microsoft YaHei"/>
                <a:ea typeface="Microsoft YaHei"/>
                <a:cs typeface="Microsoft YaHei"/>
              </a:rPr>
              <a:t>FJ40：把“经典车身件”变成可验证的修复方案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66294B-3A7B-4D0E-A20B-6F0282224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5792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EE5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75ED11-33F4-4B23-9820-D1713D5DA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0758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075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07584"/>
                </a:solidFill>
                <a:latin typeface="Microsoft YaHei"/>
                <a:ea typeface="Microsoft YaHei"/>
                <a:cs typeface="Microsoft YaHei"/>
              </a:rPr>
              <a:t>江苏钧骋车业有限公司  •  公开资料核查截至 2026-10-12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CF158B-AA15-4376-B88E-187051102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34125"/>
            <a:ext cx="685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007F8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007F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07F81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286FFF-CAEE-4F65-BF45-306FEC6D5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52600"/>
            <a:ext cx="5400675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78FD22-187D-447F-8514-6CD72D761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52600"/>
            <a:ext cx="571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1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918F3D-C366-4DA6-AF9D-AC7AD2A3D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62150"/>
            <a:ext cx="49625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007F8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007F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7F81"/>
                </a:solidFill>
                <a:latin typeface="Microsoft YaHei"/>
                <a:ea typeface="Microsoft YaHei"/>
                <a:cs typeface="Microsoft YaHei"/>
              </a:rPr>
              <a:t>A / 经销 + 修复双场景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C3CA4E-87EF-43B8-9EB8-CC54EA530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81250"/>
            <a:ext cx="49625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102B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02B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02B40"/>
                </a:solidFill>
                <a:latin typeface="Microsoft YaHei"/>
                <a:ea typeface="Microsoft YaHei"/>
                <a:cs typeface="Microsoft YaHei"/>
              </a:rPr>
              <a:t>Cruiser Corps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89E3C3-C0E7-491D-B918-76128C147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52775"/>
            <a:ext cx="4962525" cy="1857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2034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2034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3444"/>
                </a:solidFill>
                <a:latin typeface="Microsoft YaHei"/>
                <a:ea typeface="Microsoft YaHei"/>
                <a:cs typeface="Microsoft YaHei"/>
              </a:rPr>
              <a:t>俄克拉荷马州 · Land Cruiser配件与修复</a:t>
            </a:r>
          </a:p>
          <a:p xmlns:a="http://schemas.openxmlformats.org/drawingml/2006/main">
            <a:pPr>
              <a:defRPr sz="1650" b="0">
                <a:solidFill>
                  <a:srgbClr val="2034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3444"/>
                </a:solidFill>
                <a:latin typeface="Microsoft YaHei"/>
                <a:ea typeface="Microsoft YaHei"/>
                <a:cs typeface="Microsoft YaHei"/>
              </a:rPr>
              <a:t>官网覆盖FJ40等多代车型</a:t>
            </a:r>
          </a:p>
          <a:p xmlns:a="http://schemas.openxmlformats.org/drawingml/2006/main">
            <a:pPr>
              <a:defRPr sz="1650" b="0">
                <a:solidFill>
                  <a:srgbClr val="2034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3444"/>
                </a:solidFill>
                <a:latin typeface="Microsoft YaHei"/>
                <a:ea typeface="Microsoft YaHei"/>
                <a:cs typeface="Microsoft YaHei"/>
              </a:rPr>
              <a:t>切入：FJ40车门、侧围、底板与修补件</a:t>
            </a:r>
          </a:p>
          <a:p xmlns:a="http://schemas.openxmlformats.org/drawingml/2006/main">
            <a:pPr>
              <a:defRPr sz="1650" b="0">
                <a:solidFill>
                  <a:srgbClr val="2034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3444"/>
                </a:solidFill>
                <a:latin typeface="Microsoft YaHei"/>
                <a:ea typeface="Microsoft YaHei"/>
                <a:cs typeface="Microsoft YaHei"/>
              </a:rPr>
              <a:t>提案：由其工坊完成一套实车试装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9803F1-FF30-4913-AF5A-9C5D4A5FB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752600"/>
            <a:ext cx="5400675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23035C-2828-4DB7-8425-B3726C3A6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752600"/>
            <a:ext cx="571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1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53A5B8-49BC-4508-AFE0-BA261B99E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1962150"/>
            <a:ext cx="49625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007F8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007F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7F81"/>
                </a:solidFill>
                <a:latin typeface="Microsoft YaHei"/>
                <a:ea typeface="Microsoft YaHei"/>
                <a:cs typeface="Microsoft YaHei"/>
              </a:rPr>
              <a:t>A/B / 项目试装入口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63F3E6-CC15-402E-A8CF-C39677B48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2381250"/>
            <a:ext cx="49625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102B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02B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02B40"/>
                </a:solidFill>
                <a:latin typeface="Microsoft YaHei"/>
                <a:ea typeface="Microsoft YaHei"/>
                <a:cs typeface="Microsoft YaHei"/>
              </a:rPr>
              <a:t>RestoredFJ40 / ICON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ED61B62-B3D6-4CCF-892A-D22E82F6C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3152775"/>
            <a:ext cx="4962525" cy="1857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2034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2034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3444"/>
                </a:solidFill>
                <a:latin typeface="Microsoft YaHei"/>
                <a:ea typeface="Microsoft YaHei"/>
                <a:cs typeface="Microsoft YaHei"/>
              </a:rPr>
              <a:t>RestoredFJ40：俄勒冈专业修复工厂</a:t>
            </a:r>
          </a:p>
          <a:p xmlns:a="http://schemas.openxmlformats.org/drawingml/2006/main">
            <a:pPr>
              <a:defRPr sz="1650" b="0">
                <a:solidFill>
                  <a:srgbClr val="2034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3444"/>
                </a:solidFill>
                <a:latin typeface="Microsoft YaHei"/>
                <a:ea typeface="Microsoft YaHei"/>
                <a:cs typeface="Microsoft YaHei"/>
              </a:rPr>
              <a:t>适合了解结构件尺寸与安装痛点</a:t>
            </a:r>
          </a:p>
          <a:p xmlns:a="http://schemas.openxmlformats.org/drawingml/2006/main">
            <a:pPr>
              <a:defRPr sz="1650" b="0">
                <a:solidFill>
                  <a:srgbClr val="2034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3444"/>
                </a:solidFill>
                <a:latin typeface="Microsoft YaHei"/>
                <a:ea typeface="Microsoft YaHei"/>
                <a:cs typeface="Microsoft YaHei"/>
              </a:rPr>
              <a:t>ICON：加州高端FJ / Bronco定制</a:t>
            </a:r>
          </a:p>
          <a:p xmlns:a="http://schemas.openxmlformats.org/drawingml/2006/main">
            <a:pPr>
              <a:defRPr sz="1650" b="0">
                <a:solidFill>
                  <a:srgbClr val="2034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3444"/>
                </a:solidFill>
                <a:latin typeface="Microsoft YaHei"/>
                <a:ea typeface="Microsoft YaHei"/>
                <a:cs typeface="Microsoft YaHei"/>
              </a:rPr>
              <a:t>B级项目目标，需工程评审与定制适配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7FAAF1A-42C4-45E9-9C20-410B03600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38800"/>
            <a:ext cx="11125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FF0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2027E06-2C2B-4844-8857-3ACB56193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734050"/>
            <a:ext cx="1076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007F8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007F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07F81"/>
                </a:solidFill>
                <a:latin typeface="Microsoft YaHei"/>
                <a:ea typeface="Microsoft YaHei"/>
                <a:cs typeface="Microsoft YaHei"/>
              </a:rPr>
              <a:t>FJ40/FJ45/FJ60不能混作同一产品；首轮限定工厂已有试装记录的版本</a:t>
            </a:r>
          </a:p>
        </p:txBody>
      </p:sp>
    </p:spTree>
    <p:extLst>
      <p:ext uri="{BB962C8B-B14F-4D97-AF65-F5344CB8AC3E}">
        <p14:creationId xmlns:p14="http://schemas.microsoft.com/office/powerpoint/2010/main" val="86906976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3F5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04CEA69-6ACE-494E-92DB-139247907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B7791C-9FD0-4372-95DF-46A320D6E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007F8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007F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7F81"/>
                </a:solidFill>
                <a:latin typeface="Microsoft YaHei"/>
                <a:ea typeface="Microsoft YaHei"/>
                <a:cs typeface="Microsoft YaHei"/>
              </a:rPr>
              <a:t>北美业务拓展 / 决策汇报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D52D3D-65F5-4530-93BE-6F46EED22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1125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102B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102B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02B40"/>
                </a:solidFill>
                <a:latin typeface="Microsoft YaHei"/>
                <a:ea typeface="Microsoft YaHei"/>
                <a:cs typeface="Microsoft YaHei"/>
              </a:rPr>
              <a:t>Defender：经销渠道开发与历史客户复核同步做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8FB7C3-3745-4A3D-8137-EAE8181E6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5792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EE5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75C2F8-FD1B-4B24-B802-23B8E37F8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0758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075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07584"/>
                </a:solidFill>
                <a:latin typeface="Microsoft YaHei"/>
                <a:ea typeface="Microsoft YaHei"/>
                <a:cs typeface="Microsoft YaHei"/>
              </a:rPr>
              <a:t>江苏钧骋车业有限公司  •  公开资料核查截至 2026-10-12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8279D8-6DA1-41AD-838B-C8C979B49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34125"/>
            <a:ext cx="685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007F8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007F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07F81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1B24A9-E416-4653-8038-EF85419EA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52600"/>
            <a:ext cx="5400675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2C1995-A1A2-404A-A11E-7EACA7A23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52600"/>
            <a:ext cx="571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1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C4223D-607E-42C7-BB40-C8F578278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62150"/>
            <a:ext cx="49625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007F8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007F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7F81"/>
                </a:solidFill>
                <a:latin typeface="Microsoft YaHei"/>
                <a:ea typeface="Microsoft YaHei"/>
                <a:cs typeface="Microsoft YaHei"/>
              </a:rPr>
              <a:t>A / 对应产品已验证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70D4B1-3319-4760-9237-92914DB35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81250"/>
            <a:ext cx="49625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102B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02B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02B40"/>
                </a:solidFill>
                <a:latin typeface="Microsoft YaHei"/>
                <a:ea typeface="Microsoft YaHei"/>
                <a:cs typeface="Microsoft YaHei"/>
              </a:rPr>
              <a:t>Rovers North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07100C-EE99-46A9-8C4C-E2CD4D6E7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52775"/>
            <a:ext cx="4962525" cy="1857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2034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2034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3444"/>
                </a:solidFill>
                <a:latin typeface="Microsoft YaHei"/>
                <a:ea typeface="Microsoft YaHei"/>
                <a:cs typeface="Microsoft YaHei"/>
              </a:rPr>
              <a:t>佛蒙特州 · Land Rover专业配件渠道</a:t>
            </a:r>
          </a:p>
          <a:p xmlns:a="http://schemas.openxmlformats.org/drawingml/2006/main">
            <a:pPr>
              <a:defRPr sz="1650" b="0">
                <a:solidFill>
                  <a:srgbClr val="2034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3444"/>
                </a:solidFill>
                <a:latin typeface="Microsoft YaHei"/>
                <a:ea typeface="Microsoft YaHei"/>
                <a:cs typeface="Microsoft YaHei"/>
              </a:rPr>
              <a:t>公开销售Defender 90后车身总成</a:t>
            </a:r>
          </a:p>
          <a:p xmlns:a="http://schemas.openxmlformats.org/drawingml/2006/main">
            <a:pPr>
              <a:defRPr sz="1650" b="0">
                <a:solidFill>
                  <a:srgbClr val="2034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3444"/>
                </a:solidFill>
                <a:latin typeface="Microsoft YaHei"/>
                <a:ea typeface="Microsoft YaHei"/>
                <a:cs typeface="Microsoft YaHei"/>
              </a:rPr>
              <a:t>切入：90/110侧围、底板、后车身件</a:t>
            </a:r>
          </a:p>
          <a:p xmlns:a="http://schemas.openxmlformats.org/drawingml/2006/main">
            <a:pPr>
              <a:defRPr sz="1650" b="0">
                <a:solidFill>
                  <a:srgbClr val="2034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3444"/>
                </a:solidFill>
                <a:latin typeface="Microsoft YaHei"/>
                <a:ea typeface="Microsoft YaHei"/>
                <a:cs typeface="Microsoft YaHei"/>
              </a:rPr>
              <a:t>先确认：版本、材质、装配和质保要求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F3463F-47ED-41B0-895B-604B8952A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752600"/>
            <a:ext cx="5400675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262B24-B277-4AA7-B8F2-3E6B1A050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752600"/>
            <a:ext cx="571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1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180B0C-536D-41B9-9C56-DA71CABF9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1962150"/>
            <a:ext cx="49625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007F8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007F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7F81"/>
                </a:solidFill>
                <a:latin typeface="Microsoft YaHei"/>
                <a:ea typeface="Microsoft YaHei"/>
                <a:cs typeface="Microsoft YaHei"/>
              </a:rPr>
              <a:t>复核 / 历史线索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C18D1A7-1FE5-4D05-B6C5-07A755172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2381250"/>
            <a:ext cx="49625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102B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02B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02B40"/>
                </a:solidFill>
                <a:latin typeface="Microsoft YaHei"/>
                <a:ea typeface="Microsoft YaHei"/>
                <a:cs typeface="Microsoft YaHei"/>
              </a:rPr>
              <a:t>ECD Automotive Design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89CD83C-318F-4E32-8045-A54BCD5D9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3152775"/>
            <a:ext cx="4962525" cy="1857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2034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2034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3444"/>
                </a:solidFill>
                <a:latin typeface="Microsoft YaHei"/>
                <a:ea typeface="Microsoft YaHei"/>
                <a:cs typeface="Microsoft YaHei"/>
              </a:rPr>
              <a:t>佛罗里达州 · Defender等定制修复</a:t>
            </a:r>
          </a:p>
          <a:p xmlns:a="http://schemas.openxmlformats.org/drawingml/2006/main">
            <a:pPr>
              <a:defRPr sz="1650" b="0">
                <a:solidFill>
                  <a:srgbClr val="2034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3444"/>
                </a:solidFill>
                <a:latin typeface="Microsoft YaHei"/>
                <a:ea typeface="Microsoft YaHei"/>
                <a:cs typeface="Microsoft YaHei"/>
              </a:rPr>
              <a:t>公开业务与钧骋经典车方向重合</a:t>
            </a:r>
          </a:p>
          <a:p xmlns:a="http://schemas.openxmlformats.org/drawingml/2006/main">
            <a:pPr>
              <a:defRPr sz="1650" b="0">
                <a:solidFill>
                  <a:srgbClr val="2034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3444"/>
                </a:solidFill>
                <a:latin typeface="Microsoft YaHei"/>
                <a:ea typeface="Microsoft YaHei"/>
                <a:cs typeface="Microsoft YaHei"/>
              </a:rPr>
              <a:t>提单数据库有关联，状态需老板确认</a:t>
            </a:r>
          </a:p>
          <a:p xmlns:a="http://schemas.openxmlformats.org/drawingml/2006/main">
            <a:pPr>
              <a:defRPr sz="1650" b="0">
                <a:solidFill>
                  <a:srgbClr val="2034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3444"/>
                </a:solidFill>
                <a:latin typeface="Microsoft YaHei"/>
                <a:ea typeface="Microsoft YaHei"/>
                <a:cs typeface="Microsoft YaHei"/>
              </a:rPr>
              <a:t>先走原业务负责人，避免重复冷开发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4255AFD-07DD-4A1F-87AB-46385AFAE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38800"/>
            <a:ext cx="11125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FF0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8504811-C6AA-49DA-97D6-295CDCADD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734050"/>
            <a:ext cx="1076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007F8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007F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07F81"/>
                </a:solidFill>
                <a:latin typeface="Microsoft YaHei"/>
                <a:ea typeface="Microsoft YaHei"/>
                <a:cs typeface="Microsoft YaHei"/>
              </a:rPr>
              <a:t>英国车型的美国销售版本要单独核对；车身件供货与整车合法上路是不同事项</a:t>
            </a:r>
          </a:p>
        </p:txBody>
      </p:sp>
    </p:spTree>
    <p:extLst>
      <p:ext uri="{BB962C8B-B14F-4D97-AF65-F5344CB8AC3E}">
        <p14:creationId xmlns:p14="http://schemas.microsoft.com/office/powerpoint/2010/main" val="203897285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3F5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1EDD1A6-13BD-4E59-B357-D9CDF1944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32A217-51BE-47A2-B1E2-663F26599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007F8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007F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7F81"/>
                </a:solidFill>
                <a:latin typeface="Microsoft YaHei"/>
                <a:ea typeface="Microsoft YaHei"/>
                <a:cs typeface="Microsoft YaHei"/>
              </a:rPr>
              <a:t>北美业务拓展 / 决策汇报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A4843D-FF2D-4B66-883F-ACBA2C67B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1125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102B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102B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02B40"/>
                </a:solidFill>
                <a:latin typeface="Microsoft YaHei"/>
                <a:ea typeface="Microsoft YaHei"/>
                <a:cs typeface="Microsoft YaHei"/>
              </a:rPr>
              <a:t>240Z：先验证钣金单件，再讨论整壳分销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49EA16-06A6-4770-A13E-0466F50C2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5792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EE5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0ED973-35EC-4689-9F88-03E708A0B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0758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075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07584"/>
                </a:solidFill>
                <a:latin typeface="Microsoft YaHei"/>
                <a:ea typeface="Microsoft YaHei"/>
                <a:cs typeface="Microsoft YaHei"/>
              </a:rPr>
              <a:t>江苏钧骋车业有限公司  •  公开资料核查截至 2026-10-12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F32420-DE76-47E8-A7EB-E05B2F9CA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34125"/>
            <a:ext cx="685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007F8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007F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07F81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55C01B-F32B-49AD-9AE3-F8139BAC2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52600"/>
            <a:ext cx="5400675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BF6109-6879-4174-B174-F60D03353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52600"/>
            <a:ext cx="571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1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5A05AF-DCD8-42C1-929D-CFC00A961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62150"/>
            <a:ext cx="49625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007F8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007F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7F81"/>
                </a:solidFill>
                <a:latin typeface="Microsoft YaHei"/>
                <a:ea typeface="Microsoft YaHei"/>
                <a:cs typeface="Microsoft YaHei"/>
              </a:rPr>
              <a:t>A / 专业渠道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E77D4E-A7B2-42E0-9555-71403D46C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81250"/>
            <a:ext cx="49625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102B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02B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02B40"/>
                </a:solidFill>
                <a:latin typeface="Microsoft YaHei"/>
                <a:ea typeface="Microsoft YaHei"/>
                <a:cs typeface="Microsoft YaHei"/>
              </a:rPr>
              <a:t>Z Car Depot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C2A14F-B958-47A3-BBB7-4410A7044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52775"/>
            <a:ext cx="4962525" cy="1857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2034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2034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3444"/>
                </a:solidFill>
                <a:latin typeface="Microsoft YaHei"/>
                <a:ea typeface="Microsoft YaHei"/>
                <a:cs typeface="Microsoft YaHei"/>
              </a:rPr>
              <a:t>密苏里州 · Datsun Z专业线上渠道</a:t>
            </a:r>
          </a:p>
          <a:p xmlns:a="http://schemas.openxmlformats.org/drawingml/2006/main">
            <a:pPr>
              <a:defRPr sz="1650" b="0">
                <a:solidFill>
                  <a:srgbClr val="2034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3444"/>
                </a:solidFill>
                <a:latin typeface="Microsoft YaHei"/>
                <a:ea typeface="Microsoft YaHei"/>
                <a:cs typeface="Microsoft YaHei"/>
              </a:rPr>
              <a:t>官网经营1970–78 Z车型配件</a:t>
            </a:r>
          </a:p>
          <a:p xmlns:a="http://schemas.openxmlformats.org/drawingml/2006/main">
            <a:pPr>
              <a:defRPr sz="1650" b="0">
                <a:solidFill>
                  <a:srgbClr val="2034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3444"/>
                </a:solidFill>
                <a:latin typeface="Microsoft YaHei"/>
                <a:ea typeface="Microsoft YaHei"/>
                <a:cs typeface="Microsoft YaHei"/>
              </a:rPr>
              <a:t>公开目录可见翼子板等车身件</a:t>
            </a:r>
          </a:p>
          <a:p xmlns:a="http://schemas.openxmlformats.org/drawingml/2006/main">
            <a:pPr>
              <a:defRPr sz="1650" b="0">
                <a:solidFill>
                  <a:srgbClr val="2034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3444"/>
                </a:solidFill>
                <a:latin typeface="Microsoft YaHei"/>
                <a:ea typeface="Microsoft YaHei"/>
                <a:cs typeface="Microsoft YaHei"/>
              </a:rPr>
              <a:t>切入：240Z高匹配单件 + 小批量测试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CEF1FD-4980-46AD-8DDE-1A9B157D1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752600"/>
            <a:ext cx="5400675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CABB0F-67EB-441A-81A2-127160313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752600"/>
            <a:ext cx="571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1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648B4F-A6A0-4F7E-9E21-8404B4F93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1962150"/>
            <a:ext cx="49625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007F8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007F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7F81"/>
                </a:solidFill>
                <a:latin typeface="Microsoft YaHei"/>
                <a:ea typeface="Microsoft YaHei"/>
                <a:cs typeface="Microsoft YaHei"/>
              </a:rPr>
              <a:t>准备 / 精确适配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97A939-646B-4CF3-A957-D2E9CDC82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2381250"/>
            <a:ext cx="49625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102B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02B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02B40"/>
                </a:solidFill>
                <a:latin typeface="Microsoft YaHei"/>
                <a:ea typeface="Microsoft YaHei"/>
                <a:cs typeface="Microsoft YaHei"/>
              </a:rPr>
              <a:t>需要补齐的产品资料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7FA30E-65D4-4F62-9C73-88F213B8D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3152775"/>
            <a:ext cx="4962525" cy="1857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2034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2034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3444"/>
                </a:solidFill>
                <a:latin typeface="Microsoft YaHei"/>
                <a:ea typeface="Microsoft YaHei"/>
                <a:cs typeface="Microsoft YaHei"/>
              </a:rPr>
              <a:t>240Z / 260Z / 280Z分开标识</a:t>
            </a:r>
          </a:p>
          <a:p xmlns:a="http://schemas.openxmlformats.org/drawingml/2006/main">
            <a:pPr>
              <a:defRPr sz="1650" b="0">
                <a:solidFill>
                  <a:srgbClr val="2034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3444"/>
                </a:solidFill>
                <a:latin typeface="Microsoft YaHei"/>
                <a:ea typeface="Microsoft YaHei"/>
                <a:cs typeface="Microsoft YaHei"/>
              </a:rPr>
              <a:t>列明早晚年份、安装孔位与结构差异</a:t>
            </a:r>
          </a:p>
          <a:p xmlns:a="http://schemas.openxmlformats.org/drawingml/2006/main">
            <a:pPr>
              <a:defRPr sz="1650" b="0">
                <a:solidFill>
                  <a:srgbClr val="2034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3444"/>
                </a:solidFill>
                <a:latin typeface="Microsoft YaHei"/>
                <a:ea typeface="Microsoft YaHei"/>
                <a:cs typeface="Microsoft YaHei"/>
              </a:rPr>
              <a:t>提供原车对比照片、尺寸与装箱数据</a:t>
            </a:r>
          </a:p>
          <a:p xmlns:a="http://schemas.openxmlformats.org/drawingml/2006/main">
            <a:pPr>
              <a:defRPr sz="1650" b="0">
                <a:solidFill>
                  <a:srgbClr val="2034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3444"/>
                </a:solidFill>
                <a:latin typeface="Microsoft YaHei"/>
                <a:ea typeface="Microsoft YaHei"/>
                <a:cs typeface="Microsoft YaHei"/>
              </a:rPr>
              <a:t>Motorsport Auto列为后续核验线索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BA29D49-2847-46AB-8B9F-D750A6C18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38800"/>
            <a:ext cx="11125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FF0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16531BD-ECCF-4B50-B2D0-83D535882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734050"/>
            <a:ext cx="1076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007F8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007F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07F81"/>
                </a:solidFill>
                <a:latin typeface="Microsoft YaHei"/>
                <a:ea typeface="Microsoft YaHei"/>
                <a:cs typeface="Microsoft YaHei"/>
              </a:rPr>
              <a:t>Z Car Depot公开联系表单可用；采购负责人、采购量与供应商准入尚未确认</a:t>
            </a:r>
          </a:p>
        </p:txBody>
      </p:sp>
    </p:spTree>
    <p:extLst>
      <p:ext uri="{BB962C8B-B14F-4D97-AF65-F5344CB8AC3E}">
        <p14:creationId xmlns:p14="http://schemas.microsoft.com/office/powerpoint/2010/main" val="161684411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3F5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D60F0AD-CC75-4C14-9041-DD593EFBD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A6076B-CB71-4C12-8CA8-BC21D99AE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007F8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007F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7F81"/>
                </a:solidFill>
                <a:latin typeface="Microsoft YaHei"/>
                <a:ea typeface="Microsoft YaHei"/>
                <a:cs typeface="Microsoft YaHei"/>
              </a:rPr>
              <a:t>北美业务拓展 / 决策汇报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227A09-5082-4F00-AA79-44E0275FC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1125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102B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102B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02B40"/>
                </a:solidFill>
                <a:latin typeface="Microsoft YaHei"/>
                <a:ea typeface="Microsoft YaHei"/>
                <a:cs typeface="Microsoft YaHei"/>
              </a:rPr>
              <a:t>碰撞件：区域批发先验证，大渠道按SKU准入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D6E0EA-238E-4D1F-B343-E8B3DD19F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5792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EE5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019FEB-11EC-4DA4-A4DE-936582BDC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0758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075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07584"/>
                </a:solidFill>
                <a:latin typeface="Microsoft YaHei"/>
                <a:ea typeface="Microsoft YaHei"/>
                <a:cs typeface="Microsoft YaHei"/>
              </a:rPr>
              <a:t>江苏钧骋车业有限公司  •  公开资料核查截至 2026-10-12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F673B4-8C07-4FB6-8243-2DC07141C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34125"/>
            <a:ext cx="685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007F8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007F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07F81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8C0604-1733-4581-85C5-215265BE8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52600"/>
            <a:ext cx="5400675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53B158-CFE0-485D-BE32-E5E83DC93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52600"/>
            <a:ext cx="571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1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F423D0-DC2F-4E06-8AF2-0C26AA947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62150"/>
            <a:ext cx="49625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007F8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007F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7F81"/>
                </a:solidFill>
                <a:latin typeface="Microsoft YaHei"/>
                <a:ea typeface="Microsoft YaHei"/>
                <a:cs typeface="Microsoft YaHei"/>
              </a:rPr>
              <a:t>B / 大渠道，较高准入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0524F2-AB7F-4A50-A2FA-662F74570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81250"/>
            <a:ext cx="49625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102B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02B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02B40"/>
                </a:solidFill>
                <a:latin typeface="Microsoft YaHei"/>
                <a:ea typeface="Microsoft YaHei"/>
                <a:cs typeface="Microsoft YaHei"/>
              </a:rPr>
              <a:t>Empire Auto Parts / LKQ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C46ED7-8672-4E71-8B3F-725D06234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52775"/>
            <a:ext cx="4962525" cy="1857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2034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2034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3444"/>
                </a:solidFill>
                <a:latin typeface="Microsoft YaHei"/>
                <a:ea typeface="Microsoft YaHei"/>
                <a:cs typeface="Microsoft YaHei"/>
              </a:rPr>
              <a:t>两家均有碰撞维修件分销业务</a:t>
            </a:r>
          </a:p>
          <a:p xmlns:a="http://schemas.openxmlformats.org/drawingml/2006/main">
            <a:pPr>
              <a:defRPr sz="1650" b="0">
                <a:solidFill>
                  <a:srgbClr val="2034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3444"/>
                </a:solidFill>
                <a:latin typeface="Microsoft YaHei"/>
                <a:ea typeface="Microsoft YaHei"/>
                <a:cs typeface="Microsoft YaHei"/>
              </a:rPr>
              <a:t>匹配方向：车门、机盖与翼子板</a:t>
            </a:r>
          </a:p>
          <a:p xmlns:a="http://schemas.openxmlformats.org/drawingml/2006/main">
            <a:pPr>
              <a:defRPr sz="1650" b="0">
                <a:solidFill>
                  <a:srgbClr val="2034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3444"/>
                </a:solidFill>
                <a:latin typeface="Microsoft YaHei"/>
                <a:ea typeface="Microsoft YaHei"/>
                <a:cs typeface="Microsoft YaHei"/>
              </a:rPr>
              <a:t>先确认指定车型、CAPA需求、退货规则</a:t>
            </a:r>
          </a:p>
          <a:p xmlns:a="http://schemas.openxmlformats.org/drawingml/2006/main">
            <a:pPr>
              <a:defRPr sz="1650" b="0">
                <a:solidFill>
                  <a:srgbClr val="2034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3444"/>
                </a:solidFill>
                <a:latin typeface="Microsoft YaHei"/>
                <a:ea typeface="Microsoft YaHei"/>
                <a:cs typeface="Microsoft YaHei"/>
              </a:rPr>
              <a:t>采用区域试点，避免全目录一次铺货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CFB8D2-1A0B-4B06-95D0-601ED2C0A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752600"/>
            <a:ext cx="5400675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4B1633-E3D5-4936-B5F7-7E6966AF0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752600"/>
            <a:ext cx="571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1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F0CB63-FF23-4DD8-99F7-555375C7E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1962150"/>
            <a:ext cx="49625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007F8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007F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7F81"/>
                </a:solidFill>
                <a:latin typeface="Microsoft YaHei"/>
                <a:ea typeface="Microsoft YaHei"/>
                <a:cs typeface="Microsoft YaHei"/>
              </a:rPr>
              <a:t>复核 / 增购优于重复开户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997785-5D5E-4C4D-A052-7BA80375C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2381250"/>
            <a:ext cx="49625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102B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02B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02B40"/>
                </a:solidFill>
                <a:latin typeface="Microsoft YaHei"/>
                <a:ea typeface="Microsoft YaHei"/>
                <a:cs typeface="Microsoft YaHei"/>
              </a:rPr>
              <a:t>既有发运线索：优先复核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DC6FCEA-5153-4516-B32A-B53573DA1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3152775"/>
            <a:ext cx="4962525" cy="1857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2034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2034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3444"/>
                </a:solidFill>
                <a:latin typeface="Microsoft YaHei"/>
                <a:ea typeface="Microsoft YaHei"/>
                <a:cs typeface="Microsoft YaHei"/>
              </a:rPr>
              <a:t>Vicrez：有2026-09-29具体发运样本</a:t>
            </a:r>
          </a:p>
          <a:p xmlns:a="http://schemas.openxmlformats.org/drawingml/2006/main">
            <a:pPr>
              <a:defRPr sz="1650" b="0">
                <a:solidFill>
                  <a:srgbClr val="2034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3444"/>
                </a:solidFill>
                <a:latin typeface="Microsoft YaHei"/>
                <a:ea typeface="Microsoft YaHei"/>
                <a:cs typeface="Microsoft YaHei"/>
              </a:rPr>
              <a:t>DFW：有2026-08-30钣金件样本</a:t>
            </a:r>
          </a:p>
          <a:p xmlns:a="http://schemas.openxmlformats.org/drawingml/2006/main">
            <a:pPr>
              <a:defRPr sz="1650" b="0">
                <a:solidFill>
                  <a:srgbClr val="2034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3444"/>
                </a:solidFill>
                <a:latin typeface="Microsoft YaHei"/>
                <a:ea typeface="Microsoft YaHei"/>
                <a:cs typeface="Microsoft YaHei"/>
              </a:rPr>
              <a:t>Maryland Motors等见附件记录</a:t>
            </a:r>
          </a:p>
          <a:p xmlns:a="http://schemas.openxmlformats.org/drawingml/2006/main">
            <a:pPr>
              <a:defRPr sz="1650" b="0">
                <a:solidFill>
                  <a:srgbClr val="2034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3444"/>
                </a:solidFill>
                <a:latin typeface="Microsoft YaHei"/>
                <a:ea typeface="Microsoft YaHei"/>
                <a:cs typeface="Microsoft YaHei"/>
              </a:rPr>
              <a:t>从原联系人了解缺货与新增SKU机会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BFE8E8F-761B-43F6-A78B-8B7D1E777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38800"/>
            <a:ext cx="11125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FF0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49FEE60-6678-47FB-910B-DA9937245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734050"/>
            <a:ext cx="1076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007F8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007F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07F81"/>
                </a:solidFill>
                <a:latin typeface="Microsoft YaHei"/>
                <a:ea typeface="Microsoft YaHei"/>
                <a:cs typeface="Microsoft YaHei"/>
              </a:rPr>
              <a:t>LKQ / Keystone Automotive Industries碰撞件业务，须与改装附件分销业务区分</a:t>
            </a:r>
          </a:p>
        </p:txBody>
      </p:sp>
    </p:spTree>
    <p:extLst>
      <p:ext uri="{BB962C8B-B14F-4D97-AF65-F5344CB8AC3E}">
        <p14:creationId xmlns:p14="http://schemas.microsoft.com/office/powerpoint/2010/main" val="60953765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3F5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4D08C0-D58F-4CDF-9E0B-640096FF9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54E3B1-425F-4DF4-960A-C4C2370DD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007F8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007F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7F81"/>
                </a:solidFill>
                <a:latin typeface="Microsoft YaHei"/>
                <a:ea typeface="Microsoft YaHei"/>
                <a:cs typeface="Microsoft YaHei"/>
              </a:rPr>
              <a:t>北美业务拓展 / 决策汇报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4C7A09-4375-480B-AC0A-7BB2E91E7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1125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102B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102B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02B40"/>
                </a:solidFill>
                <a:latin typeface="Microsoft YaHei"/>
                <a:ea typeface="Microsoft YaHei"/>
                <a:cs typeface="Microsoft YaHei"/>
              </a:rPr>
              <a:t>首批10家：用一个明确产品提案找到采购入口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1058DD-4DDC-4B07-AFD6-A89A48E55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5792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EE5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819D6F-A68E-402D-A845-BD7A7F1ED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0758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075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07584"/>
                </a:solidFill>
                <a:latin typeface="Microsoft YaHei"/>
                <a:ea typeface="Microsoft YaHei"/>
                <a:cs typeface="Microsoft YaHei"/>
              </a:rPr>
              <a:t>江苏钧骋车业有限公司  •  公开资料核查截至 2026-10-12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035B95-4A44-474E-A092-BB82449F4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34125"/>
            <a:ext cx="685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007F8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007F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07F81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CF7754-FD5B-4853-8BF2-593E72DC2291}"/>
              </a:ext>
            </a:extLst>
          </p:cNvPr>
          <p:cNvGraphicFramePr/>
          <p:nvPr/>
        </p:nvGraphicFramePr>
        <p:xfrm>
          <a:off xmlns:a="http://schemas.openxmlformats.org/drawingml/2006/main" x="533400" y="1724025"/>
          <a:ext xmlns:a="http://schemas.openxmlformats.org/drawingml/2006/main" cx="11125200" cy="35909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000500"/>
                <a:gridCol w="3771900"/>
                <a:gridCol w="3352800"/>
              </a:tblGrid>
              <a:tr h="598488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企业</a:t>
                      </a:r>
                    </a:p>
                  </a:txBody>
                  <a:tcPr marL="91440" marR="91440" marT="45720" marB="45720">
                    <a:solidFill>
                      <a:srgbClr val="102B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匹配切入点</a:t>
                      </a:r>
                    </a:p>
                  </a:txBody>
                  <a:tcPr marL="91440" marR="91440" marT="45720" marB="45720">
                    <a:solidFill>
                      <a:srgbClr val="102B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首步 / 优先级</a:t>
                      </a:r>
                    </a:p>
                  </a:txBody>
                  <a:tcPr marL="91440" marR="91440" marT="45720" marB="45720">
                    <a:solidFill>
                      <a:srgbClr val="102B40"/>
                    </a:solidFill>
                  </a:tcPr>
                </a:tc>
              </a:tr>
              <a:tr h="598488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34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TOMS / Cruiser Corps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34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Bronco套件 / FJ40钣金件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34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采购要求 + 试装 / 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98488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34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Rovers North / Z Car Depot</a:t>
                      </a:r>
                    </a:p>
                  </a:txBody>
                  <a:tcPr marL="91440" marR="91440" marT="45720" marB="45720">
                    <a:solidFill>
                      <a:srgbClr val="E8EF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34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Defender 90/110 / 240Z单件</a:t>
                      </a:r>
                    </a:p>
                  </a:txBody>
                  <a:tcPr marL="91440" marR="91440" marT="45720" marB="45720">
                    <a:solidFill>
                      <a:srgbClr val="E8EF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34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料号适配 + 样品 / A</a:t>
                      </a:r>
                    </a:p>
                  </a:txBody>
                  <a:tcPr marL="91440" marR="91440" marT="45720" marB="45720">
                    <a:solidFill>
                      <a:srgbClr val="E8EFF2"/>
                    </a:solidFill>
                  </a:tcPr>
                </a:tc>
              </a:tr>
              <a:tr h="598488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34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WILD HORSES / RestoredFJ40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34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Bronco单件 / FJ40修复件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34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来源政策 + 技术访谈 / 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98488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34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Gateway Bronco / Velocity</a:t>
                      </a:r>
                    </a:p>
                  </a:txBody>
                  <a:tcPr marL="91440" marR="91440" marT="45720" marB="45720">
                    <a:solidFill>
                      <a:srgbClr val="E8EF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34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Bronco项目件与备件</a:t>
                      </a:r>
                    </a:p>
                  </a:txBody>
                  <a:tcPr marL="91440" marR="91440" marT="45720" marB="45720">
                    <a:solidFill>
                      <a:srgbClr val="E8EF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34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外购范围 + 项目试装 / B</a:t>
                      </a:r>
                    </a:p>
                  </a:txBody>
                  <a:tcPr marL="91440" marR="91440" marT="45720" marB="45720">
                    <a:solidFill>
                      <a:srgbClr val="E8EFF2"/>
                    </a:solidFill>
                  </a:tcPr>
                </a:tc>
              </a:tr>
              <a:tr h="598488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34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Empire / LKQ（碰撞件）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34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现代门、机盖、翼子板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34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SKU准入 + 区域试点 / B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3988F9-C860-414A-8AB7-CE0A0A0A1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38800"/>
            <a:ext cx="11125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FF0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67A7CD-F102-4B8D-A62E-1C35910F1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734050"/>
            <a:ext cx="1076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007F8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007F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07F81"/>
                </a:solidFill>
                <a:latin typeface="Microsoft YaHei"/>
                <a:ea typeface="Microsoft YaHei"/>
                <a:cs typeface="Microsoft YaHei"/>
              </a:rPr>
              <a:t>每家公开网址、电话/表单、来源、障碍与首封邮件方向均在客户附件中</a:t>
            </a:r>
          </a:p>
        </p:txBody>
      </p:sp>
    </p:spTree>
    <p:extLst>
      <p:ext uri="{BB962C8B-B14F-4D97-AF65-F5344CB8AC3E}">
        <p14:creationId xmlns:p14="http://schemas.microsoft.com/office/powerpoint/2010/main" val="191773809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3F5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5513ED0-B3C2-4178-AF3B-ABC2435A9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043051-8A82-4894-8940-2E7A5349A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007F8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007F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7F81"/>
                </a:solidFill>
                <a:latin typeface="Microsoft YaHei"/>
                <a:ea typeface="Microsoft YaHei"/>
                <a:cs typeface="Microsoft YaHei"/>
              </a:rPr>
              <a:t>北美业务拓展 / 决策汇报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6448AB-0AED-463C-8B6C-CCE0C6986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1125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102B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102B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02B40"/>
                </a:solidFill>
                <a:latin typeface="Microsoft YaHei"/>
                <a:ea typeface="Microsoft YaHei"/>
                <a:cs typeface="Microsoft YaHei"/>
              </a:rPr>
              <a:t>把询盘推进到试单，需要六个可验收节点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716056-CD92-4D03-BBB5-0E0617C81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5792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EE5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6C6197-BD42-45BC-8C0A-5649CB94E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0758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075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07584"/>
                </a:solidFill>
                <a:latin typeface="Microsoft YaHei"/>
                <a:ea typeface="Microsoft YaHei"/>
                <a:cs typeface="Microsoft YaHei"/>
              </a:rPr>
              <a:t>江苏钧骋车业有限公司  •  公开资料核查截至 2026-10-12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B59F4B-5C0C-465C-8592-FF6019433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34125"/>
            <a:ext cx="685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007F8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007F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07F81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4FFFB5-6A51-4481-9843-05AA72798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81175"/>
            <a:ext cx="3543300" cy="1609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DB6675-D858-488A-B1D3-4644B304A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52625"/>
            <a:ext cx="66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625" b="1">
                <a:solidFill>
                  <a:srgbClr val="007F8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625" b="1">
                <a:solidFill>
                  <a:srgbClr val="007F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007F81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E62EB7-F7BF-4A26-A07D-5C2173561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1981200"/>
            <a:ext cx="24003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102B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102B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02B40"/>
                </a:solidFill>
                <a:latin typeface="Microsoft YaHei"/>
                <a:ea typeface="Microsoft YaHei"/>
                <a:cs typeface="Microsoft YaHei"/>
              </a:rPr>
              <a:t>建立联系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E040E2-CFE1-4CF3-ACC7-9F2D736C0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76525"/>
            <a:ext cx="319087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2034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2034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03444"/>
                </a:solidFill>
                <a:latin typeface="Microsoft YaHei"/>
                <a:ea typeface="Microsoft YaHei"/>
                <a:cs typeface="Microsoft YaHei"/>
              </a:rPr>
              <a:t>找到采购与技术角色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9C58E8-B076-4CDB-89FC-F9AA29CEB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781175"/>
            <a:ext cx="3543300" cy="1609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1F01CF-19AB-4A2A-A6CA-B76EC5487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952625"/>
            <a:ext cx="66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625" b="1">
                <a:solidFill>
                  <a:srgbClr val="007F8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625" b="1">
                <a:solidFill>
                  <a:srgbClr val="007F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007F81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D10687-E18A-4E9A-8F7E-4C79620C8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1981200"/>
            <a:ext cx="24003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102B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102B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02B40"/>
                </a:solidFill>
                <a:latin typeface="Microsoft YaHei"/>
                <a:ea typeface="Microsoft YaHei"/>
                <a:cs typeface="Microsoft YaHei"/>
              </a:rPr>
              <a:t>产品匹配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F0585C-6C3E-4154-8EC9-1CF80EC33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676525"/>
            <a:ext cx="319087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2034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2034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03444"/>
                </a:solidFill>
                <a:latin typeface="Microsoft YaHei"/>
                <a:ea typeface="Microsoft YaHei"/>
                <a:cs typeface="Microsoft YaHei"/>
              </a:rPr>
              <a:t>双方签认年份与SKU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4AB68D-08BB-433C-B5E5-67CCBA3B8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781175"/>
            <a:ext cx="3543300" cy="1609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9B2134C-B3D9-4691-87C5-D92D48F8D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952625"/>
            <a:ext cx="66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625" b="1">
                <a:solidFill>
                  <a:srgbClr val="007F8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625" b="1">
                <a:solidFill>
                  <a:srgbClr val="007F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007F81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B815E21-2E89-48FE-9512-49393B72E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4003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102B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102B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02B40"/>
                </a:solidFill>
                <a:latin typeface="Microsoft YaHei"/>
                <a:ea typeface="Microsoft YaHei"/>
                <a:cs typeface="Microsoft YaHei"/>
              </a:rPr>
              <a:t>有效报价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B75FB42-E730-4FCE-80F3-083521713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676525"/>
            <a:ext cx="319087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2034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2034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03444"/>
                </a:solidFill>
                <a:latin typeface="Microsoft YaHei"/>
                <a:ea typeface="Microsoft YaHei"/>
                <a:cs typeface="Microsoft YaHei"/>
              </a:rPr>
              <a:t>含包装、交期、贸易条款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0EC276E-C33B-44F4-9909-C3DCF29EE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00450"/>
            <a:ext cx="3543300" cy="1609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2410388-7A64-4911-B9D3-A0E45B6C4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71900"/>
            <a:ext cx="66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625" b="1">
                <a:solidFill>
                  <a:srgbClr val="007F8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625" b="1">
                <a:solidFill>
                  <a:srgbClr val="007F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007F81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E457AE7-55B2-4C6E-9A4A-74EA8094C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800475"/>
            <a:ext cx="24003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102B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102B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02B40"/>
                </a:solidFill>
                <a:latin typeface="Microsoft YaHei"/>
                <a:ea typeface="Microsoft YaHei"/>
                <a:cs typeface="Microsoft YaHei"/>
              </a:rPr>
              <a:t>样品试装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21E0855-6F04-4974-9B22-55EE02AE5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95800"/>
            <a:ext cx="319087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2034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2034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03444"/>
                </a:solidFill>
                <a:latin typeface="Microsoft YaHei"/>
                <a:ea typeface="Microsoft YaHei"/>
                <a:cs typeface="Microsoft YaHei"/>
              </a:rPr>
              <a:t>工时 / 孔位 / 间隙记录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0BF9E57-2215-449A-A49C-13A6D0DE5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600450"/>
            <a:ext cx="3543300" cy="1609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8F3DF89-676D-4B32-AEDE-902CCFB19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771900"/>
            <a:ext cx="66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625" b="1">
                <a:solidFill>
                  <a:srgbClr val="007F8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625" b="1">
                <a:solidFill>
                  <a:srgbClr val="007F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007F81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BA7FCDA-735A-4461-B922-8BC92962D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800475"/>
            <a:ext cx="24003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102B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102B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02B40"/>
                </a:solidFill>
                <a:latin typeface="Microsoft YaHei"/>
                <a:ea typeface="Microsoft YaHei"/>
                <a:cs typeface="Microsoft YaHei"/>
              </a:rPr>
              <a:t>小批试单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94528EC-93B4-428F-BA9E-D50EDA858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495800"/>
            <a:ext cx="319087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2034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2034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03444"/>
                </a:solidFill>
                <a:latin typeface="Microsoft YaHei"/>
                <a:ea typeface="Microsoft YaHei"/>
                <a:cs typeface="Microsoft YaHei"/>
              </a:rPr>
              <a:t>验收 / 退货 / 补货规则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83923A9-F4E1-4798-8009-A82B5DF1F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600450"/>
            <a:ext cx="3543300" cy="1609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8EC149D-4AA8-4CC3-8909-7B6D11387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771900"/>
            <a:ext cx="66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625" b="1">
                <a:solidFill>
                  <a:srgbClr val="007F8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625" b="1">
                <a:solidFill>
                  <a:srgbClr val="007F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007F81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0AA7C32-727D-4E41-ABA7-8368D1354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800475"/>
            <a:ext cx="24003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102B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102B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02B40"/>
                </a:solidFill>
                <a:latin typeface="Microsoft YaHei"/>
                <a:ea typeface="Microsoft YaHei"/>
                <a:cs typeface="Microsoft YaHei"/>
              </a:rPr>
              <a:t>复购评审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1910F81-48DB-4668-88CC-E59D20E5D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495800"/>
            <a:ext cx="319087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2034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2034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03444"/>
                </a:solidFill>
                <a:latin typeface="Microsoft YaHei"/>
                <a:ea typeface="Microsoft YaHei"/>
                <a:cs typeface="Microsoft YaHei"/>
              </a:rPr>
              <a:t>质量、毛利与库存周转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FE4BD77-04B9-4EA4-B5E3-CE03C84C0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38800"/>
            <a:ext cx="11125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FF0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49F94A2-04D8-4245-A01F-20C4E4407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734050"/>
            <a:ext cx="1076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007F8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007F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07F81"/>
                </a:solidFill>
                <a:latin typeface="Microsoft YaHei"/>
                <a:ea typeface="Microsoft YaHei"/>
                <a:cs typeface="Microsoft YaHei"/>
              </a:rPr>
              <a:t>报价分别写FOB与美国交付成本；关税和进口主体由报关行按SKU确认</a:t>
            </a:r>
          </a:p>
        </p:txBody>
      </p:sp>
    </p:spTree>
    <p:extLst>
      <p:ext uri="{BB962C8B-B14F-4D97-AF65-F5344CB8AC3E}">
        <p14:creationId xmlns:p14="http://schemas.microsoft.com/office/powerpoint/2010/main" val="132788228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3F5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FEE613-1DF5-48A8-BD98-51A3D2C8F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15CCD8-8C96-4740-AAB0-2E686D7F1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007F8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007F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7F81"/>
                </a:solidFill>
                <a:latin typeface="Microsoft YaHei"/>
                <a:ea typeface="Microsoft YaHei"/>
                <a:cs typeface="Microsoft YaHei"/>
              </a:rPr>
              <a:t>北美业务拓展 / 决策汇报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CD7E73-A7D1-41E1-B9E1-5E6C089E8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1125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102B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102B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02B40"/>
                </a:solidFill>
                <a:latin typeface="Microsoft YaHei"/>
                <a:ea typeface="Microsoft YaHei"/>
                <a:cs typeface="Microsoft YaHei"/>
              </a:rPr>
              <a:t>资质按业务线准备，避免把所有要求混在一起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D2D953-EF52-4FCB-944D-40505AB6B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5792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EE5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4B946A-3611-4767-B16F-0C6BFE200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0758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075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07584"/>
                </a:solidFill>
                <a:latin typeface="Microsoft YaHei"/>
                <a:ea typeface="Microsoft YaHei"/>
                <a:cs typeface="Microsoft YaHei"/>
              </a:rPr>
              <a:t>江苏钧骋车业有限公司  •  公开资料核查截至 2026-10-12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1609AF-65F7-4CCD-A664-830F72FC5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34125"/>
            <a:ext cx="685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007F8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007F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07F81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B6667C-5856-4350-86D1-E56D5217D319}"/>
              </a:ext>
            </a:extLst>
          </p:cNvPr>
          <p:cNvGraphicFramePr/>
          <p:nvPr/>
        </p:nvGraphicFramePr>
        <p:xfrm>
          <a:off xmlns:a="http://schemas.openxmlformats.org/drawingml/2006/main" x="533400" y="1733550"/>
          <a:ext xmlns:a="http://schemas.openxmlformats.org/drawingml/2006/main" cx="11125200" cy="3524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86000"/>
                <a:gridCol w="4410075"/>
                <a:gridCol w="4429125"/>
              </a:tblGrid>
              <a:tr h="70485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要求</a:t>
                      </a:r>
                    </a:p>
                  </a:txBody>
                  <a:tcPr marL="91440" marR="91440" marT="45720" marB="45720">
                    <a:solidFill>
                      <a:srgbClr val="102B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性质 / 适用范围</a:t>
                      </a:r>
                    </a:p>
                  </a:txBody>
                  <a:tcPr marL="91440" marR="91440" marT="45720" marB="45720">
                    <a:solidFill>
                      <a:srgbClr val="102B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钧骋应做什么</a:t>
                      </a:r>
                    </a:p>
                  </a:txBody>
                  <a:tcPr marL="91440" marR="91440" marT="45720" marB="45720">
                    <a:solidFill>
                      <a:srgbClr val="102B40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034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NHTSA / 进口身份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034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法定义务按产品分类判断；美国送达代理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034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核查551代理；逐SKU确认适用标准与责任主体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034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CAPA 101等</a:t>
                      </a:r>
                    </a:p>
                  </a:txBody>
                  <a:tcPr marL="91440" marR="91440" marT="45720" marB="45720">
                    <a:solidFill>
                      <a:srgbClr val="E8EF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034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碰撞件渠道认证；不是全部钣金件统一强制</a:t>
                      </a:r>
                    </a:p>
                  </a:txBody>
                  <a:tcPr marL="91440" marR="91440" marT="45720" marB="45720">
                    <a:solidFill>
                      <a:srgbClr val="E8EF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034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先问采购要求；按具体零件申请和检索</a:t>
                      </a:r>
                    </a:p>
                  </a:txBody>
                  <a:tcPr marL="91440" marR="91440" marT="45720" marB="45720">
                    <a:solidFill>
                      <a:srgbClr val="E8EFF2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034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ISO 9001 / IATF / PPAP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034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体系及客户准入要求；IATF用于相应汽车供应链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034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审验当前证书与范围；不把旧TS证书当现行证明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034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原产地 / 关税 / 知识产权</a:t>
                      </a:r>
                    </a:p>
                  </a:txBody>
                  <a:tcPr marL="91440" marR="91440" marT="45720" marB="45720">
                    <a:solidFill>
                      <a:srgbClr val="E8EF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034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进口及销售合规，按SKU和目标市场审查</a:t>
                      </a:r>
                    </a:p>
                  </a:txBody>
                  <a:tcPr marL="91440" marR="91440" marT="45720" marB="45720">
                    <a:solidFill>
                      <a:srgbClr val="E8EF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034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报关行确认税号成本；审核商标、外观与授权</a:t>
                      </a:r>
                    </a:p>
                  </a:txBody>
                  <a:tcPr marL="91440" marR="91440" marT="45720" marB="45720">
                    <a:solidFill>
                      <a:srgbClr val="E8EFF2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3B1F10-D1CD-49C5-8372-D36F3F871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38800"/>
            <a:ext cx="11125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FF0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351AD2-ED49-4F12-A228-8A07DDBEC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734050"/>
            <a:ext cx="1076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007F8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007F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07F81"/>
                </a:solidFill>
                <a:latin typeface="Microsoft YaHei"/>
                <a:ea typeface="Microsoft YaHei"/>
                <a:cs typeface="Microsoft YaHei"/>
              </a:rPr>
              <a:t>未审验现行证书。先取得证书编号、有效期、工厂范围及CAPA零件号，再对外宣传</a:t>
            </a:r>
          </a:p>
        </p:txBody>
      </p:sp>
    </p:spTree>
    <p:extLst>
      <p:ext uri="{BB962C8B-B14F-4D97-AF65-F5344CB8AC3E}">
        <p14:creationId xmlns:p14="http://schemas.microsoft.com/office/powerpoint/2010/main" val="164749228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3F5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009D5BB-D99A-49B3-B113-50AD03256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0E684E-6D4D-4D7B-8E45-04281B3B0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007F8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007F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7F81"/>
                </a:solidFill>
                <a:latin typeface="Microsoft YaHei"/>
                <a:ea typeface="Microsoft YaHei"/>
                <a:cs typeface="Microsoft YaHei"/>
              </a:rPr>
              <a:t>北美业务拓展 / 决策汇报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E43542-769E-45AF-BF12-1CEAF16C4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1125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102B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102B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02B40"/>
                </a:solidFill>
                <a:latin typeface="Microsoft YaHei"/>
                <a:ea typeface="Microsoft YaHei"/>
                <a:cs typeface="Microsoft YaHei"/>
              </a:rPr>
              <a:t>最需要补齐的是“买家能放心下单”的证据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8189F0-2F47-4059-BF20-BF7AB541E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5792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EE5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CF01C1-9D41-41E1-9D95-91A0B0D70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0758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075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07584"/>
                </a:solidFill>
                <a:latin typeface="Microsoft YaHei"/>
                <a:ea typeface="Microsoft YaHei"/>
                <a:cs typeface="Microsoft YaHei"/>
              </a:rPr>
              <a:t>江苏钧骋车业有限公司  •  公开资料核查截至 2026-10-12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EACBDA-76BC-462F-8239-F4DD28BD8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34125"/>
            <a:ext cx="685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007F8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007F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07F81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95EF54-9E9C-4D75-BE65-5BB5DCF1D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33550"/>
            <a:ext cx="111252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EF1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B38775-FD1B-4FEF-A8C4-6588487AC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184785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007F8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007F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7F81"/>
                </a:solidFill>
                <a:latin typeface="Microsoft YaHei"/>
                <a:ea typeface="Microsoft YaHei"/>
                <a:cs typeface="Microsoft YaHei"/>
              </a:rPr>
              <a:t>产品数据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B00CC7-CF74-411D-82C9-55A9B577E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1847850"/>
            <a:ext cx="87534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2034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2034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3444"/>
                </a:solidFill>
                <a:latin typeface="Microsoft YaHei"/>
                <a:ea typeface="Microsoft YaHei"/>
                <a:cs typeface="Microsoft YaHei"/>
              </a:rPr>
              <a:t>英文目录、适配年款、OE交叉号、SKU与包装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9292BF-7601-4132-8119-5EE2CC476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57450"/>
            <a:ext cx="111252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3EDF9F-2144-4933-94A3-7E9A34506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57175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007F8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007F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7F81"/>
                </a:solidFill>
                <a:latin typeface="Microsoft YaHei"/>
                <a:ea typeface="Microsoft YaHei"/>
                <a:cs typeface="Microsoft YaHei"/>
              </a:rPr>
              <a:t>质量证据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EC1B9A-4CF6-4047-AC4A-453EB2D57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2571750"/>
            <a:ext cx="87534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2034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2034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3444"/>
                </a:solidFill>
                <a:latin typeface="Microsoft YaHei"/>
                <a:ea typeface="Microsoft YaHei"/>
                <a:cs typeface="Microsoft YaHei"/>
              </a:rPr>
              <a:t>检具尺寸、焊点与涂层记录、北美实车试装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AC1891-EF85-4F31-911C-8DEE6C28E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81350"/>
            <a:ext cx="111252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EF1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A9C289-8E63-4064-B95E-EF24E22C1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29565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007F8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007F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7F81"/>
                </a:solidFill>
                <a:latin typeface="Microsoft YaHei"/>
                <a:ea typeface="Microsoft YaHei"/>
                <a:cs typeface="Microsoft YaHei"/>
              </a:rPr>
              <a:t>交付售后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ACB2F0-D1CD-4238-84A5-B7264F734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3295650"/>
            <a:ext cx="87534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2034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2034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3444"/>
                </a:solidFill>
                <a:latin typeface="Microsoft YaHei"/>
                <a:ea typeface="Microsoft YaHei"/>
                <a:cs typeface="Microsoft YaHei"/>
              </a:rPr>
              <a:t>Topnault库存与补货、索赔标准、备件和质保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DF66F39-DC23-4C82-A92C-FFB577B5D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05250"/>
            <a:ext cx="111252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F69132A-0474-4824-8B77-5ECDCF186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01955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007F8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007F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7F81"/>
                </a:solidFill>
                <a:latin typeface="Microsoft YaHei"/>
                <a:ea typeface="Microsoft YaHei"/>
                <a:cs typeface="Microsoft YaHei"/>
              </a:rPr>
              <a:t>商业准备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C138E48-12B2-4AD7-8963-09B156E95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4019550"/>
            <a:ext cx="87534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2034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2034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3444"/>
                </a:solidFill>
                <a:latin typeface="Microsoft YaHei"/>
                <a:ea typeface="Microsoft YaHei"/>
                <a:cs typeface="Microsoft YaHei"/>
              </a:rPr>
              <a:t>美国报价权限、客户保护、责任保险与合同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96E6B43-582F-4C89-9FBB-52E4540BF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629150"/>
            <a:ext cx="111252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EF1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14C56B2-ED0F-4687-84A8-CA094238B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74345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007F8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007F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7F81"/>
                </a:solidFill>
                <a:latin typeface="Microsoft YaHei"/>
                <a:ea typeface="Microsoft YaHei"/>
                <a:cs typeface="Microsoft YaHei"/>
              </a:rPr>
              <a:t>获客内容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BC5578C-B8B8-4757-AD09-6671E40A5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4743450"/>
            <a:ext cx="87534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2034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2034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3444"/>
                </a:solidFill>
                <a:latin typeface="Microsoft YaHei"/>
                <a:ea typeface="Microsoft YaHei"/>
                <a:cs typeface="Microsoft YaHei"/>
              </a:rPr>
              <a:t>英文官网、LinkedIn、YouTube试装与工厂内容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EF8A714-2273-4145-8923-212BABC97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38800"/>
            <a:ext cx="11125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FF0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B0715F6-C5D8-4054-B3BE-C73F22B0E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734050"/>
            <a:ext cx="1076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007F8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007F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07F81"/>
                </a:solidFill>
                <a:latin typeface="Microsoft YaHei"/>
                <a:ea typeface="Microsoft YaHei"/>
                <a:cs typeface="Microsoft YaHei"/>
              </a:rPr>
              <a:t>优先用可核查案例替代笼统宣传；美国主体账号与中国工厂账号分别标识</a:t>
            </a:r>
          </a:p>
        </p:txBody>
      </p:sp>
    </p:spTree>
    <p:extLst>
      <p:ext uri="{BB962C8B-B14F-4D97-AF65-F5344CB8AC3E}">
        <p14:creationId xmlns:p14="http://schemas.microsoft.com/office/powerpoint/2010/main" val="74830566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3F5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2B7EDA-44C9-4FF1-8E30-B28433598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2C0015-0E1F-497B-A812-49567A21A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007F8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007F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7F81"/>
                </a:solidFill>
                <a:latin typeface="Microsoft YaHei"/>
                <a:ea typeface="Microsoft YaHei"/>
                <a:cs typeface="Microsoft YaHei"/>
              </a:rPr>
              <a:t>北美业务拓展 / 决策汇报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453EE8-2D5C-4791-BDE1-B1DE959EA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1125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102B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102B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02B40"/>
                </a:solidFill>
                <a:latin typeface="Microsoft YaHei"/>
                <a:ea typeface="Microsoft YaHei"/>
                <a:cs typeface="Microsoft YaHei"/>
              </a:rPr>
              <a:t>90天：先建资料与试装，再用订单检验方向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E631A6-7A56-472C-827B-ECF975570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5792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EE5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DA3F91-52EB-4351-828F-9B005D9D7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0758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075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07584"/>
                </a:solidFill>
                <a:latin typeface="Microsoft YaHei"/>
                <a:ea typeface="Microsoft YaHei"/>
                <a:cs typeface="Microsoft YaHei"/>
              </a:rPr>
              <a:t>江苏钧骋车业有限公司  •  公开资料核查截至 2026-10-12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97A993-D747-468F-A0BA-228A83AE8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34125"/>
            <a:ext cx="685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007F8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007F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07F81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0B3D12-82AE-4725-B479-CE3A2546D8B9}"/>
              </a:ext>
            </a:extLst>
          </p:cNvPr>
          <p:cNvGraphicFramePr/>
          <p:nvPr/>
        </p:nvGraphicFramePr>
        <p:xfrm>
          <a:off xmlns:a="http://schemas.openxmlformats.org/drawingml/2006/main" x="533400" y="1752600"/>
          <a:ext xmlns:a="http://schemas.openxmlformats.org/drawingml/2006/main" cx="11125200" cy="34480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619250"/>
                <a:gridCol w="4762500"/>
                <a:gridCol w="4743450"/>
              </a:tblGrid>
              <a:tr h="68961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阶段</a:t>
                      </a:r>
                    </a:p>
                  </a:txBody>
                  <a:tcPr marL="91440" marR="91440" marT="45720" marB="45720">
                    <a:solidFill>
                      <a:srgbClr val="102B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主要动作 / 建议负责人</a:t>
                      </a:r>
                    </a:p>
                  </a:txBody>
                  <a:tcPr marL="91440" marR="91440" marT="45720" marB="45720">
                    <a:solidFill>
                      <a:srgbClr val="102B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验收产物（建议目标，非承诺）</a:t>
                      </a:r>
                    </a:p>
                  </a:txBody>
                  <a:tcPr marL="91440" marR="91440" marT="45720" marB="45720">
                    <a:solidFill>
                      <a:srgbClr val="102B40"/>
                    </a:solidFill>
                  </a:tcPr>
                </a:tc>
              </a:tr>
              <a:tr h="68961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034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D1–15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034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老板定产品与保护名单；技术整理SKU；外贸建资料包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034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2条主攻产品线；首批10家；英文适配和报价模板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961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034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D16–30</a:t>
                      </a:r>
                    </a:p>
                  </a:txBody>
                  <a:tcPr marL="91440" marR="91440" marT="45720" marB="45720">
                    <a:solidFill>
                      <a:srgbClr val="E8EF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034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外贸找采购入口；美国渠道安排试装与当地拜访</a:t>
                      </a:r>
                    </a:p>
                  </a:txBody>
                  <a:tcPr marL="91440" marR="91440" marT="45720" marB="45720">
                    <a:solidFill>
                      <a:srgbClr val="E8EF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034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10家定向接触；争取4次有效需求沟通</a:t>
                      </a:r>
                    </a:p>
                  </a:txBody>
                  <a:tcPr marL="91440" marR="91440" marT="45720" marB="45720">
                    <a:solidFill>
                      <a:srgbClr val="E8EFF2"/>
                    </a:solidFill>
                  </a:tcPr>
                </a:tc>
              </a:tr>
              <a:tr h="68961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034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D31–60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034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技术/质量配合买家测试；外贸跟报价与商务条款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034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争取2个试装项目；形成签字报告与问题关闭表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961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034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D61–90</a:t>
                      </a:r>
                    </a:p>
                  </a:txBody>
                  <a:tcPr marL="91440" marR="91440" marT="45720" marB="45720">
                    <a:solidFill>
                      <a:srgbClr val="E8EF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034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美国渠道与外贸推进试单；老板审毛利和资金</a:t>
                      </a:r>
                    </a:p>
                  </a:txBody>
                  <a:tcPr marL="91440" marR="91440" marT="45720" marB="45720">
                    <a:solidFill>
                      <a:srgbClr val="E8EF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034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争取1–2个小批试单；复盘质量、交期和补货</a:t>
                      </a:r>
                    </a:p>
                  </a:txBody>
                  <a:tcPr marL="91440" marR="91440" marT="45720" marB="45720">
                    <a:solidFill>
                      <a:srgbClr val="E8EFF2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9EB3AE-3E0E-4427-AFCA-9B31BAE92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38800"/>
            <a:ext cx="11125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FF0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B825FF-7303-438B-9C10-DB3F06FCD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734050"/>
            <a:ext cx="1076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007F8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007F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07F81"/>
                </a:solidFill>
                <a:latin typeface="Microsoft YaHei"/>
                <a:ea typeface="Microsoft YaHei"/>
                <a:cs typeface="Microsoft YaHei"/>
              </a:rPr>
              <a:t>费用按样品、测试、运输、拜访、认证逐项预算；未掌握工厂数据前不编收入预测</a:t>
            </a:r>
          </a:p>
        </p:txBody>
      </p:sp>
    </p:spTree>
    <p:extLst>
      <p:ext uri="{BB962C8B-B14F-4D97-AF65-F5344CB8AC3E}">
        <p14:creationId xmlns:p14="http://schemas.microsoft.com/office/powerpoint/2010/main" val="41956574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3F5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0F7EEA2-0D1D-493D-9188-19376960F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8C7E20-B435-4DEF-8E08-5C74EE463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007F8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007F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7F81"/>
                </a:solidFill>
                <a:latin typeface="Microsoft YaHei"/>
                <a:ea typeface="Microsoft YaHei"/>
                <a:cs typeface="Microsoft YaHei"/>
              </a:rPr>
              <a:t>北美业务拓展 / 决策汇报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AF03A5-51A9-425B-8D86-59B5A556B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1125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102B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102B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02B40"/>
                </a:solidFill>
                <a:latin typeface="Microsoft YaHei"/>
                <a:ea typeface="Microsoft YaHei"/>
                <a:cs typeface="Microsoft YaHei"/>
              </a:rPr>
              <a:t>今天与老板确定五件事，就能开始执行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166EE6-E3B9-4295-8697-52C0D6F19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5792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EE5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7D6E4D-1E92-4FDC-915D-D61038772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0758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075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07584"/>
                </a:solidFill>
                <a:latin typeface="Microsoft YaHei"/>
                <a:ea typeface="Microsoft YaHei"/>
                <a:cs typeface="Microsoft YaHei"/>
              </a:rPr>
              <a:t>江苏钧骋车业有限公司  •  公开资料核查截至 2026-10-12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8937DC-DA5A-4291-B9E2-2EDFF0724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34125"/>
            <a:ext cx="685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007F8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007F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07F81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6ABCCC-92DD-4D35-A292-BB7C95FAC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24025"/>
            <a:ext cx="619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007F8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07F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07F81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142E98-E8FE-4EF0-8EF8-A09982947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724025"/>
            <a:ext cx="2047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102B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102B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02B40"/>
                </a:solidFill>
                <a:latin typeface="Microsoft YaHei"/>
                <a:ea typeface="Microsoft YaHei"/>
                <a:cs typeface="Microsoft YaHei"/>
              </a:rPr>
              <a:t>主攻产品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D11938-3843-49AE-A1B1-41701BA2D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752600"/>
            <a:ext cx="81819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2034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2034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03444"/>
                </a:solidFill>
                <a:latin typeface="Microsoft YaHei"/>
                <a:ea typeface="Microsoft YaHei"/>
                <a:cs typeface="Microsoft YaHei"/>
              </a:rPr>
              <a:t>Bronco / FJ40 / Defender / 碰撞件，先选两条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D8A49B-5EC6-4817-8AC9-A1B1229D8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38400"/>
            <a:ext cx="619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007F8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07F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07F81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2116BF-32A5-4C37-A74B-EC4958751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438400"/>
            <a:ext cx="2047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102B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102B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02B40"/>
                </a:solidFill>
                <a:latin typeface="Microsoft YaHei"/>
                <a:ea typeface="Microsoft YaHei"/>
                <a:cs typeface="Microsoft YaHei"/>
              </a:rPr>
              <a:t>渠道规则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87943E-F1C9-424C-B9F2-AD86CBBF9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466975"/>
            <a:ext cx="81819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2034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2034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03444"/>
                </a:solidFill>
                <a:latin typeface="Microsoft YaHei"/>
                <a:ea typeface="Microsoft YaHei"/>
                <a:cs typeface="Microsoft YaHei"/>
              </a:rPr>
              <a:t>Topnault如何协同？哪些客户受保护或已有负责人？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D27A60-73CA-44A0-B7C3-987C18AD5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52775"/>
            <a:ext cx="619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007F8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07F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07F81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DB2DC7-F96E-4B95-B7B1-6A57F5FDC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152775"/>
            <a:ext cx="2047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102B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102B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02B40"/>
                </a:solidFill>
                <a:latin typeface="Microsoft YaHei"/>
                <a:ea typeface="Microsoft YaHei"/>
                <a:cs typeface="Microsoft YaHei"/>
              </a:rPr>
              <a:t>样品资源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0E0610-89C9-49B6-98AC-689FF5636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181350"/>
            <a:ext cx="81819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2034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2034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03444"/>
                </a:solidFill>
                <a:latin typeface="Microsoft YaHei"/>
                <a:ea typeface="Microsoft YaHei"/>
                <a:cs typeface="Microsoft YaHei"/>
              </a:rPr>
              <a:t>首批SKU、试装车辆与工厂可承担的样品/运输预算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00C7D25-EDBA-4F05-8FD0-9E4B5A0AC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67150"/>
            <a:ext cx="619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007F8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07F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07F81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032547B-B57A-4D08-9F63-8A0494655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867150"/>
            <a:ext cx="2047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102B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102B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02B40"/>
                </a:solidFill>
                <a:latin typeface="Microsoft YaHei"/>
                <a:ea typeface="Microsoft YaHei"/>
                <a:cs typeface="Microsoft YaHei"/>
              </a:rPr>
              <a:t>质量资料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9B3FCE7-ACBF-4404-B026-600DC3BC6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895725"/>
            <a:ext cx="81819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2034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2034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03444"/>
                </a:solidFill>
                <a:latin typeface="Microsoft YaHei"/>
                <a:ea typeface="Microsoft YaHei"/>
                <a:cs typeface="Microsoft YaHei"/>
              </a:rPr>
              <a:t>现行证书、CAPA零件清单、检验和北美试装记录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3A9D4CF-8B1A-4B29-BC9A-770565E70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81525"/>
            <a:ext cx="619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007F8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07F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07F81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F92066B-6214-446C-BFF3-FD8BC2B81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581525"/>
            <a:ext cx="2047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102B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102B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02B40"/>
                </a:solidFill>
                <a:latin typeface="Microsoft YaHei"/>
                <a:ea typeface="Microsoft YaHei"/>
                <a:cs typeface="Microsoft YaHei"/>
              </a:rPr>
              <a:t>执行权限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3B0B1EB-7E94-4D11-AC6D-8030F3FF6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610100"/>
            <a:ext cx="81819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2034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2034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03444"/>
                </a:solidFill>
                <a:latin typeface="Microsoft YaHei"/>
                <a:ea typeface="Microsoft YaHei"/>
                <a:cs typeface="Microsoft YaHei"/>
              </a:rPr>
              <a:t>报价底线、账期、质保、负责人和每周复盘节奏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FEE7545-8E21-4511-B7CC-85BDCCC3C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38800"/>
            <a:ext cx="11125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FF0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76BA65C-D3E3-41D5-9A05-97828B9A6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734050"/>
            <a:ext cx="1076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007F8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007F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07F81"/>
                </a:solidFill>
                <a:latin typeface="Microsoft YaHei"/>
                <a:ea typeface="Microsoft YaHei"/>
                <a:cs typeface="Microsoft YaHei"/>
              </a:rPr>
              <a:t>附件已准备：企业开发目录、既有关系证据、资质矩阵、90天行动表和中英文邮件</a:t>
            </a:r>
          </a:p>
        </p:txBody>
      </p:sp>
    </p:spTree>
    <p:extLst>
      <p:ext uri="{BB962C8B-B14F-4D97-AF65-F5344CB8AC3E}">
        <p14:creationId xmlns:p14="http://schemas.microsoft.com/office/powerpoint/2010/main" val="13857326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2026-10-11T17:16:13.4190000Z</dcterms:created>
  <dcterms:modified xsi:type="dcterms:W3CDTF">2026-10-11T17:16:13.4190000Z</dcterms:modified>
</coreProperties>
</file>